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27"/>
  </p:notesMasterIdLst>
  <p:sldIdLst>
    <p:sldId id="257" r:id="rId3"/>
    <p:sldId id="258" r:id="rId4"/>
    <p:sldId id="259" r:id="rId5"/>
    <p:sldId id="279" r:id="rId6"/>
    <p:sldId id="260" r:id="rId7"/>
    <p:sldId id="261" r:id="rId8"/>
    <p:sldId id="280" r:id="rId9"/>
    <p:sldId id="262" r:id="rId10"/>
    <p:sldId id="281"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78693" autoAdjust="0"/>
  </p:normalViewPr>
  <p:slideViewPr>
    <p:cSldViewPr>
      <p:cViewPr varScale="1">
        <p:scale>
          <a:sx n="91" d="100"/>
          <a:sy n="91" d="100"/>
        </p:scale>
        <p:origin x="-2214" y="-96"/>
      </p:cViewPr>
      <p:guideLst>
        <p:guide orient="horz" pos="2160"/>
        <p:guide pos="2880"/>
      </p:guideLst>
    </p:cSldViewPr>
  </p:slideViewPr>
  <p:notesTextViewPr>
    <p:cViewPr>
      <p:scale>
        <a:sx n="100" d="100"/>
        <a:sy n="100" d="100"/>
      </p:scale>
      <p:origin x="0" y="216"/>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980E98-74BC-4DCB-9D75-CAEA6D375FDF}" type="datetimeFigureOut">
              <a:rPr lang="en-US" smtClean="0"/>
              <a:pPr/>
              <a:t>4/6/2020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D8B400-CCAD-4613-ACB6-5126C9B627E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r-Latn-RS" dirty="0" smtClean="0"/>
              <a:t>Široko prihvaćena tehnika za poboljšanje performansi i pouzdanosti distribuiranih sistema</a:t>
            </a:r>
            <a:r>
              <a:rPr lang="sr-Latn-RS" baseline="0" dirty="0" smtClean="0"/>
              <a:t> je repliciranje resursa.</a:t>
            </a:r>
            <a:endParaRPr lang="en-US" dirty="0"/>
          </a:p>
        </p:txBody>
      </p:sp>
      <p:sp>
        <p:nvSpPr>
          <p:cNvPr id="4" name="Slide Number Placeholder 3"/>
          <p:cNvSpPr>
            <a:spLocks noGrp="1"/>
          </p:cNvSpPr>
          <p:nvPr>
            <p:ph type="sldNum" sz="quarter" idx="10"/>
          </p:nvPr>
        </p:nvSpPr>
        <p:spPr/>
        <p:txBody>
          <a:bodyPr/>
          <a:lstStyle/>
          <a:p>
            <a:fld id="{97D8B400-CCAD-4613-ACB6-5126C9B627E6}"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t>
            </a:r>
            <a:r>
              <a:rPr lang="en-US" dirty="0" err="1"/>
              <a:t>odr</a:t>
            </a:r>
            <a:r>
              <a:rPr lang="sr-Latn-RS" dirty="0"/>
              <a:t>žavanja konzistentnosti distribuiranih skladišta podataka se javlja zbog konačnog vremena potrebnog za distribuciju ažuriranja (komunikaciono kašnjenj) i nepostojanja globalnog časovnika.</a:t>
            </a:r>
          </a:p>
          <a:p>
            <a:r>
              <a:rPr lang="sr-Latn-RS" dirty="0"/>
              <a:t>Zbog tga se definišu različiti modeli konzistencije</a:t>
            </a:r>
            <a:endParaRPr lang="en-US" dirty="0"/>
          </a:p>
        </p:txBody>
      </p:sp>
      <p:sp>
        <p:nvSpPr>
          <p:cNvPr id="4" name="Slide Number Placeholder 3"/>
          <p:cNvSpPr>
            <a:spLocks noGrp="1"/>
          </p:cNvSpPr>
          <p:nvPr>
            <p:ph type="sldNum" sz="quarter" idx="5"/>
          </p:nvPr>
        </p:nvSpPr>
        <p:spPr/>
        <p:txBody>
          <a:bodyPr/>
          <a:lstStyle/>
          <a:p>
            <a:fld id="{97D8B400-CCAD-4613-ACB6-5126C9B627E6}" type="slidenum">
              <a:rPr lang="en-US" smtClean="0"/>
              <a:pPr/>
              <a:t>6</a:t>
            </a:fld>
            <a:endParaRPr lang="en-US"/>
          </a:p>
        </p:txBody>
      </p:sp>
    </p:spTree>
    <p:extLst>
      <p:ext uri="{BB962C8B-B14F-4D97-AF65-F5344CB8AC3E}">
        <p14:creationId xmlns="" xmlns:p14="http://schemas.microsoft.com/office/powerpoint/2010/main" val="2532057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p:spPr>
        <p:txBody>
          <a:bodyPr/>
          <a:lstStyle/>
          <a:p>
            <a:r>
              <a:rPr lang="en-US" altLang="en-US">
                <a:latin typeface="Arial" charset="0"/>
              </a:rPr>
              <a:t>The contract:</a:t>
            </a:r>
          </a:p>
          <a:p>
            <a:r>
              <a:rPr lang="en-US" altLang="en-US">
                <a:latin typeface="Arial" charset="0"/>
              </a:rPr>
              <a:t>the process must accept all valid results as proper answers and</a:t>
            </a:r>
          </a:p>
          <a:p>
            <a:r>
              <a:rPr lang="en-US" altLang="en-US">
                <a:latin typeface="Arial" charset="0"/>
              </a:rPr>
              <a:t>work correctly if any of them occurs.</a:t>
            </a:r>
          </a:p>
        </p:txBody>
      </p:sp>
      <p:sp>
        <p:nvSpPr>
          <p:cNvPr id="48132" name="Slide Number Placeholder 3"/>
          <p:cNvSpPr>
            <a:spLocks noGrp="1"/>
          </p:cNvSpPr>
          <p:nvPr>
            <p:ph type="sldNum" sz="quarter" idx="5"/>
          </p:nvPr>
        </p:nvSpPr>
        <p:spPr>
          <a:noFill/>
          <a:ln>
            <a:miter lim="800000"/>
            <a:headEnd/>
            <a:tailEnd/>
          </a:ln>
        </p:spPr>
        <p:txBody>
          <a:bodyPr/>
          <a:lstStyle/>
          <a:p>
            <a:fld id="{3273EC9B-CD44-4F94-A571-58486CC17F8C}" type="slidenum">
              <a:rPr lang="en-US" altLang="en-US"/>
              <a:pPr/>
              <a:t>14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miter lim="800000"/>
            <a:headEnd/>
            <a:tailEnd/>
          </a:ln>
        </p:spPr>
        <p:txBody>
          <a:bodyPr/>
          <a:lstStyle/>
          <a:p>
            <a:fld id="{BD845A41-A18F-40B4-9FCC-40F1C14503E1}" type="slidenum">
              <a:rPr lang="en-US" altLang="en-US"/>
              <a:pPr/>
              <a:t>15</a:t>
            </a:fld>
            <a:endParaRPr lang="en-US" alt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r>
              <a:rPr lang="sr-Latn-CS" altLang="en-US">
                <a:latin typeface="Arial" charset="0"/>
              </a:rPr>
              <a:t>da li je potpis 001001 validan?</a:t>
            </a:r>
          </a:p>
          <a:p>
            <a:pPr eaLnBrk="1" hangingPunct="1"/>
            <a:r>
              <a:rPr lang="sr-Latn-CS" altLang="en-US">
                <a:latin typeface="Arial" charset="0"/>
              </a:rPr>
              <a:t>prva dva bita, 00, znače da su z i y oba bili 0 kada je P1 obavio štampanje. Ova situacija nastupa samo ako P1 izvrši obe svoje naredbe pre nego što P2 i P3 otpočnu sa izvršenjem. Sledeća dva bita, 10, označavaju da P2 mora da otpočne sa izvršenjem posle P1 ali pre P3. Poslednja dva bita, 01, znače da P3 mora da se okonča pre nego što P1 startuje, ali </a:t>
            </a:r>
            <a:r>
              <a:rPr lang="en-US" altLang="en-US">
                <a:latin typeface="Arial" charset="0"/>
              </a:rPr>
              <a:t>z</a:t>
            </a:r>
            <a:r>
              <a:rPr lang="sr-Latn-CS" altLang="en-US">
                <a:latin typeface="Arial" charset="0"/>
              </a:rPr>
              <a:t>bog prva dva bita (00) videli smo da P1 mora da staruje prvi! Zbog toga potpis 001001 nije moguć!</a:t>
            </a:r>
          </a:p>
          <a:p>
            <a:pPr eaLnBrk="1" hangingPunct="1"/>
            <a:endParaRPr lang="en-US" altLang="en-US">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r-Latn-RS" dirty="0" smtClean="0"/>
              <a:t>Najlakše se može proveriti koje vrednosti za U,V i W nisu moguće na osnovu sledeće tabele:</a:t>
            </a:r>
          </a:p>
          <a:p>
            <a:endParaRPr lang="sr-Latn-RS" dirty="0" smtClean="0"/>
          </a:p>
          <a:p>
            <a:r>
              <a:rPr lang="sr-Latn-RS" u="sng" dirty="0" smtClean="0"/>
              <a:t>U  V  W </a:t>
            </a:r>
          </a:p>
          <a:p>
            <a:r>
              <a:rPr lang="sr-Latn-RS" u="none" dirty="0" smtClean="0"/>
              <a:t>0   0</a:t>
            </a:r>
            <a:r>
              <a:rPr lang="sr-Latn-RS" u="none" baseline="0" dirty="0" smtClean="0"/>
              <a:t>  0</a:t>
            </a:r>
          </a:p>
          <a:p>
            <a:r>
              <a:rPr lang="sr-Latn-RS" u="none" baseline="0" dirty="0" smtClean="0"/>
              <a:t>0   0  1</a:t>
            </a:r>
          </a:p>
          <a:p>
            <a:r>
              <a:rPr lang="sr-Latn-RS" u="none" baseline="0" dirty="0" smtClean="0">
                <a:solidFill>
                  <a:srgbClr val="FF0000"/>
                </a:solidFill>
              </a:rPr>
              <a:t>0   1  </a:t>
            </a:r>
            <a:r>
              <a:rPr lang="sr-Latn-RS" u="none" baseline="0" dirty="0" smtClean="0">
                <a:solidFill>
                  <a:srgbClr val="FF0000"/>
                </a:solidFill>
              </a:rPr>
              <a:t>0</a:t>
            </a:r>
            <a:endParaRPr lang="sr-Latn-RS" u="none" baseline="0" dirty="0" smtClean="0">
              <a:solidFill>
                <a:srgbClr val="FF0000"/>
              </a:solidFill>
            </a:endParaRPr>
          </a:p>
          <a:p>
            <a:r>
              <a:rPr lang="sr-Latn-RS" u="none" baseline="0" dirty="0" smtClean="0">
                <a:solidFill>
                  <a:srgbClr val="FF0000"/>
                </a:solidFill>
              </a:rPr>
              <a:t>0   </a:t>
            </a:r>
            <a:r>
              <a:rPr lang="sr-Latn-RS" u="none" baseline="0" smtClean="0">
                <a:solidFill>
                  <a:srgbClr val="FF0000"/>
                </a:solidFill>
              </a:rPr>
              <a:t>1  </a:t>
            </a:r>
            <a:r>
              <a:rPr lang="sr-Latn-RS" u="none" baseline="0" smtClean="0">
                <a:solidFill>
                  <a:srgbClr val="FF0000"/>
                </a:solidFill>
              </a:rPr>
              <a:t>1</a:t>
            </a:r>
            <a:endParaRPr lang="sr-Latn-RS" u="none" baseline="0" dirty="0" smtClean="0">
              <a:solidFill>
                <a:srgbClr val="FF0000"/>
              </a:solidFill>
            </a:endParaRPr>
          </a:p>
          <a:p>
            <a:pPr marL="228600" indent="-228600">
              <a:buNone/>
            </a:pPr>
            <a:r>
              <a:rPr lang="sr-Latn-RS" u="none" baseline="0" dirty="0" smtClean="0">
                <a:solidFill>
                  <a:srgbClr val="FF0000"/>
                </a:solidFill>
              </a:rPr>
              <a:t>1   0  0   nije moguće jer bi značilo da P2 vidi prvo A=1 a onda A=0</a:t>
            </a:r>
          </a:p>
          <a:p>
            <a:pPr marL="228600" indent="-228600">
              <a:buNone/>
            </a:pPr>
            <a:r>
              <a:rPr lang="sr-Latn-RS" u="none" baseline="0" dirty="0" smtClean="0"/>
              <a:t>1   0  1</a:t>
            </a:r>
          </a:p>
          <a:p>
            <a:pPr marL="228600" indent="-228600">
              <a:buAutoNum type="arabicPlain"/>
            </a:pPr>
            <a:r>
              <a:rPr lang="sr-Latn-RS" u="none" dirty="0" smtClean="0"/>
              <a:t>1  0  </a:t>
            </a:r>
            <a:r>
              <a:rPr lang="sr-Latn-RS" u="none" baseline="0" dirty="0" smtClean="0">
                <a:solidFill>
                  <a:srgbClr val="FF0000"/>
                </a:solidFill>
              </a:rPr>
              <a:t> nije moguće jer bi značilo da P2 vidi prvo A=1 a onda A=0</a:t>
            </a:r>
            <a:endParaRPr lang="sr-Latn-RS" u="none" dirty="0" smtClean="0"/>
          </a:p>
          <a:p>
            <a:pPr marL="228600" indent="-228600">
              <a:buNone/>
            </a:pPr>
            <a:r>
              <a:rPr lang="sr-Latn-RS" u="none" dirty="0" smtClean="0"/>
              <a:t>1   1  1</a:t>
            </a:r>
            <a:endParaRPr lang="en-US" dirty="0"/>
          </a:p>
        </p:txBody>
      </p:sp>
      <p:sp>
        <p:nvSpPr>
          <p:cNvPr id="4" name="Slide Number Placeholder 3"/>
          <p:cNvSpPr>
            <a:spLocks noGrp="1"/>
          </p:cNvSpPr>
          <p:nvPr>
            <p:ph type="sldNum" sz="quarter" idx="10"/>
          </p:nvPr>
        </p:nvSpPr>
        <p:spPr/>
        <p:txBody>
          <a:bodyPr/>
          <a:lstStyle/>
          <a:p>
            <a:fld id="{97D8B400-CCAD-4613-ACB6-5126C9B627E6}" type="slidenum">
              <a:rPr lang="en-US" smtClean="0"/>
              <a:pPr/>
              <a:t>16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p:spPr>
        <p:txBody>
          <a:bodyPr/>
          <a:lstStyle/>
          <a:p>
            <a:endParaRPr lang="en-US" altLang="en-US">
              <a:latin typeface="Arial" charset="0"/>
            </a:endParaRPr>
          </a:p>
        </p:txBody>
      </p:sp>
      <p:sp>
        <p:nvSpPr>
          <p:cNvPr id="50180" name="Slide Number Placeholder 3"/>
          <p:cNvSpPr>
            <a:spLocks noGrp="1"/>
          </p:cNvSpPr>
          <p:nvPr>
            <p:ph type="sldNum" sz="quarter" idx="5"/>
          </p:nvPr>
        </p:nvSpPr>
        <p:spPr>
          <a:noFill/>
          <a:ln>
            <a:miter lim="800000"/>
            <a:headEnd/>
            <a:tailEnd/>
          </a:ln>
        </p:spPr>
        <p:txBody>
          <a:bodyPr/>
          <a:lstStyle/>
          <a:p>
            <a:fld id="{968375A3-5575-4068-ACB7-EAC43B231BF2}" type="slidenum">
              <a:rPr lang="en-US" altLang="en-US"/>
              <a:pPr/>
              <a:t>19</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p:spPr>
        <p:txBody>
          <a:bodyPr/>
          <a:lstStyle/>
          <a:p>
            <a:r>
              <a:rPr lang="en-US" altLang="en-US">
                <a:latin typeface="Arial" charset="0"/>
              </a:rPr>
              <a:t>Guarantee:</a:t>
            </a:r>
          </a:p>
          <a:p>
            <a:r>
              <a:rPr lang="en-US" altLang="en-US">
                <a:latin typeface="Arial" charset="0"/>
              </a:rPr>
              <a:t>• writes from a single source must arrive in order</a:t>
            </a:r>
          </a:p>
          <a:p>
            <a:r>
              <a:rPr lang="en-US" altLang="en-US">
                <a:latin typeface="Arial" charset="0"/>
              </a:rPr>
              <a:t>• no other guarantees.</a:t>
            </a:r>
          </a:p>
          <a:p>
            <a:r>
              <a:rPr lang="en-US" altLang="en-US">
                <a:latin typeface="Arial" charset="0"/>
              </a:rPr>
              <a:t> Easy to implement! </a:t>
            </a:r>
          </a:p>
        </p:txBody>
      </p:sp>
      <p:sp>
        <p:nvSpPr>
          <p:cNvPr id="51204" name="Slide Number Placeholder 3"/>
          <p:cNvSpPr>
            <a:spLocks noGrp="1"/>
          </p:cNvSpPr>
          <p:nvPr>
            <p:ph type="sldNum" sz="quarter" idx="5"/>
          </p:nvPr>
        </p:nvSpPr>
        <p:spPr>
          <a:noFill/>
          <a:ln>
            <a:miter lim="800000"/>
            <a:headEnd/>
            <a:tailEnd/>
          </a:ln>
        </p:spPr>
        <p:txBody>
          <a:bodyPr/>
          <a:lstStyle/>
          <a:p>
            <a:fld id="{07A0DB0F-8623-4B20-86AC-43E525F940EC}" type="slidenum">
              <a:rPr lang="en-US" altLang="en-US"/>
              <a:pPr/>
              <a:t>20</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 name="Rectangle 4"/>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p:spPr>
          <p:txBody>
            <a:bodyPr wrap="none" anchor="ctr"/>
            <a:lstStyle/>
            <a:p>
              <a:pPr>
                <a:defRPr/>
              </a:pPr>
              <a:endParaRPr lang="en-US">
                <a:effectLst>
                  <a:outerShdw blurRad="38100" dist="38100" dir="2700000" algn="tl">
                    <a:srgbClr val="000000">
                      <a:alpha val="43137"/>
                    </a:srgbClr>
                  </a:outerShdw>
                </a:effectLst>
              </a:endParaRPr>
            </a:p>
          </p:txBody>
        </p:sp>
      </p:grpSp>
      <p:sp>
        <p:nvSpPr>
          <p:cNvPr id="7" name="AutoShape 10"/>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a:noFill/>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5125"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pPr lvl="0"/>
            <a:r>
              <a:rPr lang="en-US" altLang="en-US" noProof="0"/>
              <a:t>Click to edit Master title style</a:t>
            </a:r>
          </a:p>
        </p:txBody>
      </p:sp>
      <p:sp>
        <p:nvSpPr>
          <p:cNvPr id="5126"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pPr lvl="0"/>
            <a:r>
              <a:rPr lang="en-US" altLang="en-US" noProof="0"/>
              <a:t>Click to edit Master subtitle style</a:t>
            </a:r>
          </a:p>
        </p:txBody>
      </p:sp>
      <p:sp>
        <p:nvSpPr>
          <p:cNvPr id="8" name="Date Placeholder 7"/>
          <p:cNvSpPr>
            <a:spLocks noGrp="1" noChangeArrowheads="1"/>
          </p:cNvSpPr>
          <p:nvPr>
            <p:ph type="dt" sz="half" idx="10"/>
          </p:nvPr>
        </p:nvSpPr>
        <p:spPr bwMode="auto">
          <a:xfrm>
            <a:off x="1295400" y="6248400"/>
            <a:ext cx="1905000" cy="457200"/>
          </a:xfrm>
          <a:prstGeom prst="rect">
            <a:avLst/>
          </a:prstGeom>
        </p:spPr>
        <p:txBody>
          <a:bodyPr vert="horz" wrap="square" lIns="91432" tIns="45716" rIns="91432" bIns="45716" numCol="1" anchor="t" anchorCtr="0" compatLnSpc="1">
            <a:prstTxWarp prst="textNoShape">
              <a:avLst/>
            </a:prstTxWarp>
          </a:bodyPr>
          <a:lstStyle>
            <a:lvl1pPr>
              <a:spcBef>
                <a:spcPct val="50000"/>
              </a:spcBef>
              <a:defRPr sz="1400">
                <a:solidFill>
                  <a:srgbClr val="FFFFFF"/>
                </a:solidFill>
                <a:effectLst/>
                <a:latin typeface="Arial Narrow" pitchFamily="34" charset="0"/>
              </a:defRPr>
            </a:lvl1pPr>
          </a:lstStyle>
          <a:p>
            <a:fld id="{D30B4AE6-115C-4A0B-AB12-A865167C66F7}" type="datetimeFigureOut">
              <a:rPr lang="en-US" smtClean="0"/>
              <a:pPr/>
              <a:t>4/6/2020</a:t>
            </a:fld>
            <a:endParaRPr lang="en-US"/>
          </a:p>
        </p:txBody>
      </p:sp>
      <p:sp>
        <p:nvSpPr>
          <p:cNvPr id="9" name="Footer Placeholder 8"/>
          <p:cNvSpPr>
            <a:spLocks noGrp="1" noChangeArrowheads="1"/>
          </p:cNvSpPr>
          <p:nvPr>
            <p:ph type="ftr" sz="quarter" idx="11"/>
          </p:nvPr>
        </p:nvSpPr>
        <p:spPr bwMode="auto">
          <a:xfrm>
            <a:off x="3733800" y="6248400"/>
            <a:ext cx="2895600" cy="457200"/>
          </a:xfrm>
          <a:prstGeom prst="rect">
            <a:avLst/>
          </a:prstGeom>
        </p:spPr>
        <p:txBody>
          <a:bodyPr vert="horz" wrap="square" lIns="91432" tIns="45716" rIns="91432" bIns="45716" numCol="1" anchor="t" anchorCtr="0" compatLnSpc="1">
            <a:prstTxWarp prst="textNoShape">
              <a:avLst/>
            </a:prstTxWarp>
          </a:bodyPr>
          <a:lstStyle>
            <a:lvl1pPr algn="ctr">
              <a:spcBef>
                <a:spcPct val="50000"/>
              </a:spcBef>
              <a:defRPr sz="1400">
                <a:solidFill>
                  <a:srgbClr val="FFFFFF"/>
                </a:solidFill>
                <a:effectLst/>
                <a:latin typeface="Arial Narrow" pitchFamily="34" charset="0"/>
              </a:defRPr>
            </a:lvl1pPr>
          </a:lstStyle>
          <a:p>
            <a:endParaRPr lang="en-US"/>
          </a:p>
        </p:txBody>
      </p:sp>
      <p:sp>
        <p:nvSpPr>
          <p:cNvPr id="10" name="Slide Number Placeholder 9"/>
          <p:cNvSpPr>
            <a:spLocks noGrp="1" noChangeArrowheads="1"/>
          </p:cNvSpPr>
          <p:nvPr>
            <p:ph type="sldNum" sz="quarter" idx="12"/>
          </p:nvPr>
        </p:nvSpPr>
        <p:spPr>
          <a:xfrm>
            <a:off x="0" y="6400800"/>
            <a:ext cx="457200" cy="381000"/>
          </a:xfrm>
        </p:spPr>
        <p:txBody>
          <a:bodyPr/>
          <a:lstStyle>
            <a:lvl1pPr>
              <a:defRPr>
                <a:solidFill>
                  <a:srgbClr val="FFFFFF"/>
                </a:solidFill>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01675"/>
          </a:xfrm>
        </p:spPr>
        <p:txBody>
          <a:bodyPr/>
          <a:lstStyle/>
          <a:p>
            <a:r>
              <a:rPr lang="en-US"/>
              <a:t>Click to edit Master title style</a:t>
            </a:r>
          </a:p>
        </p:txBody>
      </p:sp>
      <p:sp>
        <p:nvSpPr>
          <p:cNvPr id="3" name="Text Placeholder 2"/>
          <p:cNvSpPr>
            <a:spLocks noGrp="1"/>
          </p:cNvSpPr>
          <p:nvPr>
            <p:ph type="body" sz="half" idx="1"/>
          </p:nvPr>
        </p:nvSpPr>
        <p:spPr>
          <a:xfrm>
            <a:off x="0" y="708025"/>
            <a:ext cx="4495800" cy="6149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01675"/>
          </a:xfrm>
        </p:spPr>
        <p:txBody>
          <a:bodyPr/>
          <a:lstStyle/>
          <a:p>
            <a:r>
              <a:rPr lang="en-US"/>
              <a:t>Click to edit Master title style</a:t>
            </a:r>
          </a:p>
        </p:txBody>
      </p:sp>
      <p:sp>
        <p:nvSpPr>
          <p:cNvPr id="3" name="Table Placeholder 2"/>
          <p:cNvSpPr>
            <a:spLocks noGrp="1"/>
          </p:cNvSpPr>
          <p:nvPr>
            <p:ph type="tbl" idx="1"/>
          </p:nvPr>
        </p:nvSpPr>
        <p:spPr>
          <a:xfrm>
            <a:off x="0" y="708025"/>
            <a:ext cx="9144000" cy="6149975"/>
          </a:xfrm>
        </p:spPr>
        <p:txBody>
          <a:bodyPr/>
          <a:lstStyle/>
          <a:p>
            <a:pPr lvl="0"/>
            <a:r>
              <a:rPr lang="en-US" noProof="0"/>
              <a:t>Click icon to add table</a:t>
            </a:r>
          </a:p>
        </p:txBody>
      </p:sp>
      <p:sp>
        <p:nvSpPr>
          <p:cNvPr id="4" name="Rectangle 4"/>
          <p:cNvSpPr>
            <a:spLocks noGrp="1" noChangeArrowheads="1"/>
          </p:cNvSpPr>
          <p:nvPr>
            <p:ph type="sldNum" sz="quarter" idx="10"/>
          </p:nvPr>
        </p:nvSpPr>
        <p:spPr>
          <a:ln/>
        </p:spPr>
        <p:txBody>
          <a:bodyPr/>
          <a:lstStyle>
            <a:lvl1pPr>
              <a:defRPr/>
            </a:lvl1pPr>
          </a:lstStyle>
          <a:p>
            <a:fld id="{8D32971D-7D5A-44F8-A2BC-E85998DE1CA0}" type="slidenum">
              <a:rPr lang="en-US" smtClean="0"/>
              <a:pPr/>
              <a:t>‹#›</a:t>
            </a:fld>
            <a:endParaRPr lang="en-US"/>
          </a:p>
        </p:txBody>
      </p:sp>
    </p:spTree>
  </p:cSld>
  <p:clrMapOvr>
    <a:masterClrMapping/>
  </p:clrMapOvr>
  <p:transition>
    <p:pull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 name="Rectangle 4"/>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p:spPr>
          <p:txBody>
            <a:bodyPr wrap="none" anchor="ctr"/>
            <a:lstStyle/>
            <a:p>
              <a:pPr>
                <a:defRPr/>
              </a:pPr>
              <a:endParaRPr lang="en-US">
                <a:effectLst>
                  <a:outerShdw blurRad="38100" dist="38100" dir="2700000" algn="tl">
                    <a:srgbClr val="000000">
                      <a:alpha val="43137"/>
                    </a:srgbClr>
                  </a:outerShdw>
                </a:effectLst>
              </a:endParaRPr>
            </a:p>
          </p:txBody>
        </p:sp>
      </p:grpSp>
      <p:sp>
        <p:nvSpPr>
          <p:cNvPr id="7" name="AutoShape 10"/>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a:noFill/>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197"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pPr lvl="0"/>
            <a:r>
              <a:rPr lang="en-US" altLang="en-US" noProof="0"/>
              <a:t>Click to edit Master title style</a:t>
            </a:r>
          </a:p>
        </p:txBody>
      </p:sp>
      <p:sp>
        <p:nvSpPr>
          <p:cNvPr id="8198"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pPr lvl="0"/>
            <a:r>
              <a:rPr lang="en-US" altLang="en-US" noProof="0"/>
              <a:t>Click to edit Master subtitle style</a:t>
            </a:r>
          </a:p>
        </p:txBody>
      </p:sp>
      <p:sp>
        <p:nvSpPr>
          <p:cNvPr id="8" name="Date Placeholder 7"/>
          <p:cNvSpPr>
            <a:spLocks noGrp="1" noChangeArrowheads="1"/>
          </p:cNvSpPr>
          <p:nvPr>
            <p:ph type="dt" sz="half" idx="10"/>
          </p:nvPr>
        </p:nvSpPr>
        <p:spPr bwMode="auto">
          <a:xfrm>
            <a:off x="1295400" y="6248400"/>
            <a:ext cx="1905000" cy="457200"/>
          </a:xfrm>
          <a:prstGeom prst="rect">
            <a:avLst/>
          </a:prstGeom>
        </p:spPr>
        <p:txBody>
          <a:bodyPr vert="horz" wrap="square" lIns="91432" tIns="45716" rIns="91432" bIns="45716" numCol="1" anchor="t" anchorCtr="0" compatLnSpc="1">
            <a:prstTxWarp prst="textNoShape">
              <a:avLst/>
            </a:prstTxWarp>
          </a:bodyPr>
          <a:lstStyle>
            <a:lvl1pPr>
              <a:spcBef>
                <a:spcPct val="50000"/>
              </a:spcBef>
              <a:defRPr sz="1400">
                <a:solidFill>
                  <a:srgbClr val="FFFFFF"/>
                </a:solidFill>
                <a:effectLst/>
                <a:latin typeface="Arial Narrow" pitchFamily="34" charset="0"/>
              </a:defRPr>
            </a:lvl1pPr>
          </a:lstStyle>
          <a:p>
            <a:pPr>
              <a:defRPr/>
            </a:pPr>
            <a:endParaRPr lang="en-US" altLang="en-US"/>
          </a:p>
        </p:txBody>
      </p:sp>
      <p:sp>
        <p:nvSpPr>
          <p:cNvPr id="9" name="Footer Placeholder 8"/>
          <p:cNvSpPr>
            <a:spLocks noGrp="1" noChangeArrowheads="1"/>
          </p:cNvSpPr>
          <p:nvPr>
            <p:ph type="ftr" sz="quarter" idx="11"/>
          </p:nvPr>
        </p:nvSpPr>
        <p:spPr bwMode="auto">
          <a:xfrm>
            <a:off x="3733800" y="6248400"/>
            <a:ext cx="2895600" cy="457200"/>
          </a:xfrm>
          <a:prstGeom prst="rect">
            <a:avLst/>
          </a:prstGeom>
        </p:spPr>
        <p:txBody>
          <a:bodyPr vert="horz" wrap="square" lIns="91432" tIns="45716" rIns="91432" bIns="45716" numCol="1" anchor="t" anchorCtr="0" compatLnSpc="1">
            <a:prstTxWarp prst="textNoShape">
              <a:avLst/>
            </a:prstTxWarp>
          </a:bodyPr>
          <a:lstStyle>
            <a:lvl1pPr algn="ctr">
              <a:spcBef>
                <a:spcPct val="50000"/>
              </a:spcBef>
              <a:defRPr sz="1400">
                <a:solidFill>
                  <a:srgbClr val="FFFFFF"/>
                </a:solidFill>
                <a:effectLst/>
                <a:latin typeface="Arial Narrow" pitchFamily="34" charset="0"/>
              </a:defRPr>
            </a:lvl1pPr>
          </a:lstStyle>
          <a:p>
            <a:pPr>
              <a:defRPr/>
            </a:pPr>
            <a:endParaRPr lang="en-US" altLang="en-US"/>
          </a:p>
        </p:txBody>
      </p:sp>
      <p:sp>
        <p:nvSpPr>
          <p:cNvPr id="10" name="Slide Number Placeholder 9"/>
          <p:cNvSpPr>
            <a:spLocks noGrp="1" noChangeArrowheads="1"/>
          </p:cNvSpPr>
          <p:nvPr>
            <p:ph type="sldNum" sz="quarter" idx="12"/>
          </p:nvPr>
        </p:nvSpPr>
        <p:spPr>
          <a:xfrm>
            <a:off x="0" y="6400800"/>
            <a:ext cx="457200" cy="381000"/>
          </a:xfrm>
        </p:spPr>
        <p:txBody>
          <a:bodyPr/>
          <a:lstStyle>
            <a:lvl1pPr>
              <a:defRPr>
                <a:solidFill>
                  <a:srgbClr val="FFFFFF"/>
                </a:solidFill>
              </a:defRPr>
            </a:lvl1pPr>
          </a:lstStyle>
          <a:p>
            <a:pPr>
              <a:defRPr/>
            </a:pPr>
            <a:fld id="{6DF42AD0-37B6-4678-99A4-D508C55C8581}" type="slidenum">
              <a:rPr lang="en-US" altLang="en-US"/>
              <a:pPr>
                <a:defRPr/>
              </a:pPr>
              <a:t>‹#›</a:t>
            </a:fld>
            <a:endParaRPr lang="en-US" altLang="en-US"/>
          </a:p>
        </p:txBody>
      </p:sp>
    </p:spTree>
  </p:cSld>
  <p:clrMapOvr>
    <a:masterClrMapping/>
  </p:clrMapOvr>
  <p:transition>
    <p:pull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63E9E915-4CA0-4D60-BCD7-EA4CFD5F2DF0}" type="slidenum">
              <a:rPr lang="en-US" altLang="en-US"/>
              <a:pPr>
                <a:defRPr/>
              </a:pPr>
              <a:t>‹#›</a:t>
            </a:fld>
            <a:endParaRPr lang="en-US" altLang="en-US"/>
          </a:p>
        </p:txBody>
      </p:sp>
    </p:spTree>
  </p:cSld>
  <p:clrMapOvr>
    <a:masterClrMapping/>
  </p:clrMapOvr>
  <p:transition>
    <p:pull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pPr>
              <a:defRPr/>
            </a:pPr>
            <a:fld id="{A63BE7EE-548C-42F7-A973-17D659EC375B}" type="slidenum">
              <a:rPr lang="en-US" altLang="en-US"/>
              <a:pPr>
                <a:defRPr/>
              </a:pPr>
              <a:t>‹#›</a:t>
            </a:fld>
            <a:endParaRPr lang="en-US" altLang="en-US"/>
          </a:p>
        </p:txBody>
      </p:sp>
    </p:spTree>
  </p:cSld>
  <p:clrMapOvr>
    <a:masterClrMapping/>
  </p:clrMapOvr>
  <p:transition>
    <p:pull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sldNum" sz="quarter" idx="10"/>
          </p:nvPr>
        </p:nvSpPr>
        <p:spPr>
          <a:ln/>
        </p:spPr>
        <p:txBody>
          <a:bodyPr/>
          <a:lstStyle>
            <a:lvl1pPr>
              <a:defRPr/>
            </a:lvl1pPr>
          </a:lstStyle>
          <a:p>
            <a:pPr>
              <a:defRPr/>
            </a:pPr>
            <a:fld id="{7926D53E-940E-46E5-A9E5-8A7EB3B17F6F}" type="slidenum">
              <a:rPr lang="en-US" altLang="en-US"/>
              <a:pPr>
                <a:defRPr/>
              </a:pPr>
              <a:t>‹#›</a:t>
            </a:fld>
            <a:endParaRPr lang="en-US" altLang="en-US"/>
          </a:p>
        </p:txBody>
      </p:sp>
    </p:spTree>
  </p:cSld>
  <p:clrMapOvr>
    <a:masterClrMapping/>
  </p:clrMapOvr>
  <p:transition>
    <p:pull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0"/>
          </p:nvPr>
        </p:nvSpPr>
        <p:spPr>
          <a:ln/>
        </p:spPr>
        <p:txBody>
          <a:bodyPr/>
          <a:lstStyle>
            <a:lvl1pPr>
              <a:defRPr/>
            </a:lvl1pPr>
          </a:lstStyle>
          <a:p>
            <a:pPr>
              <a:defRPr/>
            </a:pPr>
            <a:fld id="{76E5BAD1-343D-4EF6-8250-0F37337C85AC}" type="slidenum">
              <a:rPr lang="en-US" altLang="en-US"/>
              <a:pPr>
                <a:defRPr/>
              </a:pPr>
              <a:t>‹#›</a:t>
            </a:fld>
            <a:endParaRPr lang="en-US" altLang="en-US"/>
          </a:p>
        </p:txBody>
      </p:sp>
    </p:spTree>
  </p:cSld>
  <p:clrMapOvr>
    <a:masterClrMapping/>
  </p:clrMapOvr>
  <p:transition>
    <p:pull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ln/>
        </p:spPr>
        <p:txBody>
          <a:bodyPr/>
          <a:lstStyle>
            <a:lvl1pPr>
              <a:defRPr/>
            </a:lvl1pPr>
          </a:lstStyle>
          <a:p>
            <a:pPr>
              <a:defRPr/>
            </a:pPr>
            <a:fld id="{F01AE4C0-8650-4A4E-A482-1EAEBA7B84EC}" type="slidenum">
              <a:rPr lang="en-US" altLang="en-US"/>
              <a:pPr>
                <a:defRPr/>
              </a:pPr>
              <a:t>‹#›</a:t>
            </a:fld>
            <a:endParaRPr lang="en-US" altLang="en-US"/>
          </a:p>
        </p:txBody>
      </p:sp>
    </p:spTree>
  </p:cSld>
  <p:clrMapOvr>
    <a:masterClrMapping/>
  </p:clrMapOvr>
  <p:transition>
    <p:pull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6D276369-91A1-4166-82C2-3926F5669F63}" type="slidenum">
              <a:rPr lang="en-US" altLang="en-US"/>
              <a:pPr>
                <a:defRPr/>
              </a:pPr>
              <a:t>‹#›</a:t>
            </a:fld>
            <a:endParaRPr lang="en-US" altLang="en-US"/>
          </a:p>
        </p:txBody>
      </p:sp>
    </p:spTree>
  </p:cSld>
  <p:clrMapOvr>
    <a:masterClrMapping/>
  </p:clrMapOvr>
  <p:transition>
    <p:pull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331C4178-3923-487D-AB64-B300064A0193}" type="slidenum">
              <a:rPr lang="en-US" altLang="en-US"/>
              <a:pPr>
                <a:defRPr/>
              </a:pPr>
              <a:t>‹#›</a:t>
            </a:fld>
            <a:endParaRPr lang="en-US" altLang="en-US"/>
          </a:p>
        </p:txBody>
      </p:sp>
    </p:spTree>
  </p:cSld>
  <p:clrMapOvr>
    <a:masterClrMapping/>
  </p:clrMapOvr>
  <p:transition>
    <p:pull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D417AD66-C7DB-40AE-AE05-023854137F46}" type="slidenum">
              <a:rPr lang="en-US" altLang="en-US"/>
              <a:pPr>
                <a:defRPr/>
              </a:pPr>
              <a:t>‹#›</a:t>
            </a:fld>
            <a:endParaRPr lang="en-US" altLang="en-US"/>
          </a:p>
        </p:txBody>
      </p:sp>
    </p:spTree>
  </p:cSld>
  <p:clrMapOvr>
    <a:masterClrMapping/>
  </p:clrMapOvr>
  <p:transition>
    <p:pull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14310BD9-70F6-41EF-836E-692282263A9D}" type="slidenum">
              <a:rPr lang="en-US" altLang="en-US"/>
              <a:pPr>
                <a:defRPr/>
              </a:pPr>
              <a:t>‹#›</a:t>
            </a:fld>
            <a:endParaRPr lang="en-US" altLang="en-US"/>
          </a:p>
        </p:txBody>
      </p:sp>
    </p:spTree>
  </p:cSld>
  <p:clrMapOvr>
    <a:masterClrMapping/>
  </p:clrMapOvr>
  <p:transition>
    <p:pull di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5689F1ED-8635-43E3-B045-7AE0F4ECA61C}" type="slidenum">
              <a:rPr lang="en-US" altLang="en-US"/>
              <a:pPr>
                <a:defRPr/>
              </a:pPr>
              <a:t>‹#›</a:t>
            </a:fld>
            <a:endParaRPr lang="en-US" altLang="en-US"/>
          </a:p>
        </p:txBody>
      </p:sp>
    </p:spTree>
  </p:cSld>
  <p:clrMapOvr>
    <a:masterClrMapping/>
  </p:clrMapOvr>
  <p:transition>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0" y="0"/>
            <a:ext cx="9144000" cy="701675"/>
          </a:xfrm>
          <a:prstGeom prst="rect">
            <a:avLst/>
          </a:prstGeom>
          <a:solidFill>
            <a:schemeClr val="tx1"/>
          </a:solidFill>
          <a:ln>
            <a:noFill/>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4099" name="Rectangle 3"/>
          <p:cNvSpPr>
            <a:spLocks noGrp="1" noChangeArrowheads="1"/>
          </p:cNvSpPr>
          <p:nvPr>
            <p:ph type="body" idx="1"/>
          </p:nvPr>
        </p:nvSpPr>
        <p:spPr bwMode="auto">
          <a:xfrm>
            <a:off x="0" y="708025"/>
            <a:ext cx="9144000" cy="6149975"/>
          </a:xfrm>
          <a:prstGeom prst="rect">
            <a:avLst/>
          </a:prstGeom>
          <a:noFill/>
          <a:ln>
            <a:noFill/>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sldNum" sz="quarter" idx="4"/>
          </p:nvPr>
        </p:nvSpPr>
        <p:spPr bwMode="auto">
          <a:xfrm>
            <a:off x="8686800" y="6477000"/>
            <a:ext cx="381000" cy="304800"/>
          </a:xfrm>
          <a:prstGeom prst="rect">
            <a:avLst/>
          </a:prstGeom>
          <a:noFill/>
          <a:ln>
            <a:noFill/>
          </a:ln>
        </p:spPr>
        <p:txBody>
          <a:bodyPr vert="horz" wrap="square" lIns="91432" tIns="45716" rIns="91432" bIns="45716" numCol="1" anchor="t" anchorCtr="0" compatLnSpc="1">
            <a:prstTxWarp prst="textNoShape">
              <a:avLst/>
            </a:prstTxWarp>
          </a:bodyPr>
          <a:lstStyle>
            <a:lvl1pPr algn="r">
              <a:spcBef>
                <a:spcPct val="50000"/>
              </a:spcBef>
              <a:defRPr sz="1400">
                <a:latin typeface="Arial Narrow" pitchFamily="34" charset="0"/>
              </a:defRPr>
            </a:lvl1pPr>
          </a:lstStyle>
          <a:p>
            <a:fld id="{8D32971D-7D5A-44F8-A2BC-E85998DE1CA0}" type="slidenum">
              <a:rPr lang="en-US" smtClean="0"/>
              <a:pPr/>
              <a:t>‹#›</a:t>
            </a:fld>
            <a:endParaRPr lang="en-US"/>
          </a:p>
        </p:txBody>
      </p:sp>
      <p:sp>
        <p:nvSpPr>
          <p:cNvPr id="4101" name="Rectangle 5"/>
          <p:cNvSpPr>
            <a:spLocks noChangeArrowheads="1"/>
          </p:cNvSpPr>
          <p:nvPr/>
        </p:nvSpPr>
        <p:spPr bwMode="auto">
          <a:xfrm>
            <a:off x="463550" y="1812925"/>
            <a:ext cx="190500" cy="4678363"/>
          </a:xfrm>
          <a:prstGeom prst="rect">
            <a:avLst/>
          </a:prstGeom>
          <a:noFill/>
          <a:ln>
            <a:noFill/>
          </a:ln>
        </p:spPr>
        <p:txBody>
          <a:bodyPr wrap="none" anchor="ctr"/>
          <a:lstStyle/>
          <a:p>
            <a:pPr>
              <a:defRPr/>
            </a:pPr>
            <a:endParaRPr 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pull dir="d"/>
  </p:transition>
  <p:txStyles>
    <p:titleStyle>
      <a:lvl1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1" fontAlgn="base" hangingPunct="1">
        <a:spcBef>
          <a:spcPct val="20000"/>
        </a:spcBef>
        <a:spcAft>
          <a:spcPct val="0"/>
        </a:spcAft>
        <a:buClr>
          <a:schemeClr val="accent1"/>
        </a:buClr>
        <a:buSzPct val="85000"/>
        <a:buFont typeface="Wingdings 2"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1" fontAlgn="base" hangingPunct="1">
        <a:spcBef>
          <a:spcPct val="20000"/>
        </a:spcBef>
        <a:spcAft>
          <a:spcPct val="0"/>
        </a:spcAft>
        <a:buClr>
          <a:schemeClr val="hlink"/>
        </a:buClr>
        <a:buSzPct val="85000"/>
        <a:buFont typeface="Wingdings"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1" fontAlgn="base" hangingPunct="1">
        <a:spcBef>
          <a:spcPct val="20000"/>
        </a:spcBef>
        <a:spcAft>
          <a:spcPct val="0"/>
        </a:spcAft>
        <a:buClr>
          <a:schemeClr val="tx1"/>
        </a:buClr>
        <a:buFont typeface="Wingdings"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0" y="0"/>
            <a:ext cx="9144000" cy="701675"/>
          </a:xfrm>
          <a:prstGeom prst="rect">
            <a:avLst/>
          </a:prstGeom>
          <a:solidFill>
            <a:schemeClr val="tx1"/>
          </a:solidFill>
          <a:ln>
            <a:noFill/>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7171" name="Rectangle 3"/>
          <p:cNvSpPr>
            <a:spLocks noGrp="1" noChangeArrowheads="1"/>
          </p:cNvSpPr>
          <p:nvPr>
            <p:ph type="body" idx="1"/>
          </p:nvPr>
        </p:nvSpPr>
        <p:spPr bwMode="auto">
          <a:xfrm>
            <a:off x="0" y="708025"/>
            <a:ext cx="9144000" cy="6149975"/>
          </a:xfrm>
          <a:prstGeom prst="rect">
            <a:avLst/>
          </a:prstGeom>
          <a:noFill/>
          <a:ln>
            <a:noFill/>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p:cNvSpPr>
            <a:spLocks noGrp="1" noChangeArrowheads="1"/>
          </p:cNvSpPr>
          <p:nvPr>
            <p:ph type="sldNum" sz="quarter" idx="4"/>
          </p:nvPr>
        </p:nvSpPr>
        <p:spPr bwMode="auto">
          <a:xfrm>
            <a:off x="8686800" y="6477000"/>
            <a:ext cx="381000" cy="304800"/>
          </a:xfrm>
          <a:prstGeom prst="rect">
            <a:avLst/>
          </a:prstGeom>
          <a:noFill/>
          <a:ln>
            <a:noFill/>
          </a:ln>
        </p:spPr>
        <p:txBody>
          <a:bodyPr vert="horz" wrap="square" lIns="91432" tIns="45716" rIns="91432" bIns="45716" numCol="1" anchor="t" anchorCtr="0" compatLnSpc="1">
            <a:prstTxWarp prst="textNoShape">
              <a:avLst/>
            </a:prstTxWarp>
          </a:bodyPr>
          <a:lstStyle>
            <a:lvl1pPr algn="r">
              <a:spcBef>
                <a:spcPct val="50000"/>
              </a:spcBef>
              <a:defRPr sz="1400">
                <a:latin typeface="Arial Narrow" pitchFamily="34" charset="0"/>
              </a:defRPr>
            </a:lvl1pPr>
          </a:lstStyle>
          <a:p>
            <a:pPr>
              <a:defRPr/>
            </a:pPr>
            <a:fld id="{A6878310-EFF2-485D-B8C6-CD2F0586CB78}" type="slidenum">
              <a:rPr lang="en-US" altLang="en-US"/>
              <a:pPr>
                <a:defRPr/>
              </a:pPr>
              <a:t>‹#›</a:t>
            </a:fld>
            <a:endParaRPr lang="en-US" altLang="en-US"/>
          </a:p>
        </p:txBody>
      </p:sp>
      <p:sp>
        <p:nvSpPr>
          <p:cNvPr id="7173" name="Rectangle 5"/>
          <p:cNvSpPr>
            <a:spLocks noChangeArrowheads="1"/>
          </p:cNvSpPr>
          <p:nvPr/>
        </p:nvSpPr>
        <p:spPr bwMode="auto">
          <a:xfrm>
            <a:off x="463550" y="1812925"/>
            <a:ext cx="190500" cy="4678363"/>
          </a:xfrm>
          <a:prstGeom prst="rect">
            <a:avLst/>
          </a:prstGeom>
          <a:noFill/>
          <a:ln>
            <a:noFill/>
          </a:ln>
        </p:spPr>
        <p:txBody>
          <a:bodyPr wrap="none" anchor="ctr"/>
          <a:lstStyle/>
          <a:p>
            <a:pPr>
              <a:defRPr/>
            </a:pPr>
            <a:endParaRPr 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p:pull dir="d"/>
  </p:transition>
  <p:txStyles>
    <p:titleStyle>
      <a:lvl1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1" fontAlgn="base" hangingPunct="1">
        <a:spcBef>
          <a:spcPct val="20000"/>
        </a:spcBef>
        <a:spcAft>
          <a:spcPct val="0"/>
        </a:spcAft>
        <a:buClr>
          <a:schemeClr val="accent1"/>
        </a:buClr>
        <a:buSzPct val="85000"/>
        <a:buFont typeface="Wingdings 2"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1" fontAlgn="base" hangingPunct="1">
        <a:spcBef>
          <a:spcPct val="20000"/>
        </a:spcBef>
        <a:spcAft>
          <a:spcPct val="0"/>
        </a:spcAft>
        <a:buClr>
          <a:schemeClr val="hlink"/>
        </a:buClr>
        <a:buSzPct val="85000"/>
        <a:buFont typeface="Wingdings"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1" fontAlgn="base" hangingPunct="1">
        <a:spcBef>
          <a:spcPct val="20000"/>
        </a:spcBef>
        <a:spcAft>
          <a:spcPct val="0"/>
        </a:spcAft>
        <a:buClr>
          <a:schemeClr val="tx1"/>
        </a:buClr>
        <a:buFont typeface="Wingdings"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a:defRPr/>
            </a:pPr>
            <a:r>
              <a:rPr lang="en-US" altLang="en-US"/>
              <a:t>Distribuirani sistemi</a:t>
            </a:r>
          </a:p>
        </p:txBody>
      </p:sp>
      <p:sp>
        <p:nvSpPr>
          <p:cNvPr id="2051" name="Rectangle 3"/>
          <p:cNvSpPr>
            <a:spLocks noGrp="1" noChangeArrowheads="1"/>
          </p:cNvSpPr>
          <p:nvPr>
            <p:ph type="subTitle" idx="1"/>
          </p:nvPr>
        </p:nvSpPr>
        <p:spPr/>
        <p:txBody>
          <a:bodyPr/>
          <a:lstStyle/>
          <a:p>
            <a:pPr>
              <a:defRPr/>
            </a:pPr>
            <a:r>
              <a:rPr lang="en-US" altLang="en-US"/>
              <a:t>Konzistentnost i replikacija</a:t>
            </a:r>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sr-Latn-CS" altLang="en-US"/>
              <a:t>Razlozi replikacije</a:t>
            </a:r>
            <a:endParaRPr lang="en-US" altLang="en-US"/>
          </a:p>
        </p:txBody>
      </p:sp>
      <p:sp>
        <p:nvSpPr>
          <p:cNvPr id="10243" name="Rectangle 3"/>
          <p:cNvSpPr>
            <a:spLocks noGrp="1" noChangeArrowheads="1"/>
          </p:cNvSpPr>
          <p:nvPr>
            <p:ph type="body" idx="1"/>
          </p:nvPr>
        </p:nvSpPr>
        <p:spPr/>
        <p:txBody>
          <a:bodyPr>
            <a:normAutofit lnSpcReduction="10000"/>
          </a:bodyPr>
          <a:lstStyle/>
          <a:p>
            <a:r>
              <a:rPr lang="sr-Latn-CS" altLang="en-US" dirty="0"/>
              <a:t>Povećanje pouzdanosti</a:t>
            </a:r>
          </a:p>
          <a:p>
            <a:pPr lvl="1"/>
            <a:r>
              <a:rPr lang="sr-Latn-CS" altLang="en-US" dirty="0"/>
              <a:t>Npr. ako je fajl sistem repliciran, moguće je nastaviti sa radom ako neka kopija bude narušena jednostavnim komutiranjem na drugu kopiju.</a:t>
            </a:r>
          </a:p>
          <a:p>
            <a:r>
              <a:rPr lang="sr-Latn-CS" altLang="en-US" dirty="0"/>
              <a:t>Poboljšanje performansi</a:t>
            </a:r>
          </a:p>
          <a:p>
            <a:pPr lvl="1"/>
            <a:r>
              <a:rPr lang="sr-Latn-CS" altLang="en-US" dirty="0"/>
              <a:t>U slučaju velike geografske razuđenosti DS replikacija je poželjna jer smanjuje vreme pristupa podacima (npr. replicirani Web serveri)</a:t>
            </a:r>
          </a:p>
          <a:p>
            <a:r>
              <a:rPr lang="sr-Latn-CS" altLang="en-US" dirty="0"/>
              <a:t>Replikacija i keširanje su široko prihvaćene tehnike skaliranja (proširljivosti sistema)</a:t>
            </a:r>
            <a:r>
              <a:rPr lang="en-US" altLang="en-US" dirty="0"/>
              <a:t> </a:t>
            </a:r>
            <a:r>
              <a:rPr lang="sr-Latn-CS" altLang="en-US" dirty="0"/>
              <a:t>uz održanje performansi.</a:t>
            </a:r>
          </a:p>
          <a:p>
            <a:pPr lvl="1"/>
            <a:r>
              <a:rPr lang="sr-Latn-CS" altLang="en-US" dirty="0"/>
              <a:t>Skalabilnost se obično odražava na performanse sistema.</a:t>
            </a:r>
          </a:p>
          <a:p>
            <a:pPr lvl="2"/>
            <a:r>
              <a:rPr lang="sr-Latn-CS" altLang="en-US" dirty="0"/>
              <a:t>Repliciranje i smeštanje podataka bliže procesima koji ih kor</a:t>
            </a:r>
            <a:r>
              <a:rPr lang="en-US" altLang="en-US" dirty="0"/>
              <a:t>i</a:t>
            </a:r>
            <a:r>
              <a:rPr lang="sr-Latn-CS" altLang="en-US" dirty="0"/>
              <a:t>ste može poboljšati performanse redukovanjem vremena pristupa, rešavajući problem skalabilnosti.</a:t>
            </a:r>
            <a:endParaRPr lang="en-US" altLang="en-US" dirty="0"/>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dirty="0" err="1"/>
              <a:t>Problemi</a:t>
            </a:r>
            <a:r>
              <a:rPr lang="en-US" altLang="en-US" dirty="0"/>
              <a:t> </a:t>
            </a:r>
            <a:r>
              <a:rPr lang="en-US" altLang="en-US" dirty="0" err="1"/>
              <a:t>uzrokovani</a:t>
            </a:r>
            <a:r>
              <a:rPr lang="en-US" altLang="en-US" dirty="0"/>
              <a:t> </a:t>
            </a:r>
            <a:r>
              <a:rPr lang="en-US" altLang="en-US" dirty="0" err="1"/>
              <a:t>replikacijom</a:t>
            </a:r>
            <a:endParaRPr lang="en-US" altLang="en-US" dirty="0"/>
          </a:p>
        </p:txBody>
      </p:sp>
      <p:sp>
        <p:nvSpPr>
          <p:cNvPr id="11267" name="Rectangle 3"/>
          <p:cNvSpPr>
            <a:spLocks noGrp="1" noChangeArrowheads="1"/>
          </p:cNvSpPr>
          <p:nvPr>
            <p:ph type="body" idx="1"/>
          </p:nvPr>
        </p:nvSpPr>
        <p:spPr/>
        <p:txBody>
          <a:bodyPr/>
          <a:lstStyle/>
          <a:p>
            <a:r>
              <a:rPr lang="sr-Latn-CS" altLang="en-US" dirty="0"/>
              <a:t>Replikacija dovodi do problema konzistentnosti kopija.</a:t>
            </a:r>
          </a:p>
          <a:p>
            <a:pPr lvl="1"/>
            <a:r>
              <a:rPr lang="sr-Latn-CS" altLang="en-US" dirty="0"/>
              <a:t>Da bi kopije bile usaglašene potrebno je izvršiti ažuriranje tako da se privremena nekonzistentnost ne primeti;</a:t>
            </a:r>
          </a:p>
          <a:p>
            <a:pPr lvl="1"/>
            <a:r>
              <a:rPr lang="sr-Latn-CS" altLang="en-US" dirty="0"/>
              <a:t>Ažuriranje kopija dovodi do degradacije performansi, naročito u velikim DS</a:t>
            </a:r>
            <a:r>
              <a:rPr lang="en-US" altLang="en-US" dirty="0"/>
              <a:t> </a:t>
            </a:r>
            <a:r>
              <a:rPr lang="en-US" altLang="en-US" dirty="0" err="1"/>
              <a:t>jer</a:t>
            </a:r>
            <a:r>
              <a:rPr lang="en-US" altLang="en-US" dirty="0"/>
              <a:t> </a:t>
            </a:r>
            <a:r>
              <a:rPr lang="sr-Latn-CS" altLang="en-US" dirty="0"/>
              <a:t> povećava saobraćaj kroz mrežu.</a:t>
            </a:r>
          </a:p>
          <a:p>
            <a:pPr lvl="1"/>
            <a:r>
              <a:rPr lang="sr-Latn-CS" altLang="en-US" dirty="0"/>
              <a:t>Održavanje kopija konzistentnim može ugroziti skalabilnost.</a:t>
            </a:r>
          </a:p>
          <a:p>
            <a:pPr lvl="2"/>
            <a:endParaRPr lang="en-US" altLang="en-US" dirty="0"/>
          </a:p>
        </p:txBody>
      </p:sp>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A983B72-C336-4B71-B8E8-B9D0E55FA8A7}"/>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A85EF170-9D42-4996-AD23-6C336AEE1FC0}"/>
              </a:ext>
            </a:extLst>
          </p:cNvPr>
          <p:cNvSpPr>
            <a:spLocks noGrp="1"/>
          </p:cNvSpPr>
          <p:nvPr>
            <p:ph idx="1"/>
          </p:nvPr>
        </p:nvSpPr>
        <p:spPr/>
        <p:txBody>
          <a:bodyPr>
            <a:normAutofit lnSpcReduction="10000"/>
          </a:bodyPr>
          <a:lstStyle/>
          <a:p>
            <a:r>
              <a:rPr lang="en-US" altLang="en-US" dirty="0" err="1"/>
              <a:t>Kopije</a:t>
            </a:r>
            <a:r>
              <a:rPr lang="en-US" altLang="en-US" dirty="0"/>
              <a:t> </a:t>
            </a:r>
            <a:r>
              <a:rPr lang="en-US" altLang="en-US" dirty="0" err="1"/>
              <a:t>su</a:t>
            </a:r>
            <a:r>
              <a:rPr lang="en-US" altLang="en-US" dirty="0"/>
              <a:t> </a:t>
            </a:r>
            <a:r>
              <a:rPr lang="en-US" altLang="en-US" dirty="0" err="1"/>
              <a:t>konzistentne</a:t>
            </a:r>
            <a:r>
              <a:rPr lang="en-US" altLang="en-US" dirty="0"/>
              <a:t> </a:t>
            </a:r>
            <a:r>
              <a:rPr lang="en-US" altLang="en-US" dirty="0" err="1"/>
              <a:t>ako</a:t>
            </a:r>
            <a:r>
              <a:rPr lang="en-US" altLang="en-US" dirty="0"/>
              <a:t> </a:t>
            </a:r>
            <a:r>
              <a:rPr lang="sr-Latn-CS" altLang="en-US" dirty="0"/>
              <a:t>read operacija nad bilo kojom kopijom uvek vraća isti rezultat.</a:t>
            </a:r>
          </a:p>
          <a:p>
            <a:pPr lvl="1"/>
            <a:r>
              <a:rPr lang="sr-Latn-CS" altLang="en-US" dirty="0"/>
              <a:t>Kada se obavlja ažuriranje na jednoj kopiji i sve ostale kopije se moraju ažurirati pre nego što se obavi neka druga operacija.</a:t>
            </a:r>
          </a:p>
          <a:p>
            <a:pPr lvl="1"/>
            <a:r>
              <a:rPr lang="sr-Latn-CS" altLang="en-US" dirty="0"/>
              <a:t>Sve replike na globalnom nivou treba da se usaglase kada tačno ažuriranje treba da bude urađeno.</a:t>
            </a:r>
          </a:p>
          <a:p>
            <a:pPr lvl="2"/>
            <a:r>
              <a:rPr lang="sr-Latn-CS" altLang="en-US" dirty="0"/>
              <a:t>Npr. Korišćenjem Lamportovih vremenskih markica ili koordinatora.</a:t>
            </a:r>
          </a:p>
          <a:p>
            <a:r>
              <a:rPr lang="sr-Latn-CS" altLang="en-US" dirty="0"/>
              <a:t>Dilema: </a:t>
            </a:r>
          </a:p>
          <a:p>
            <a:pPr lvl="1"/>
            <a:r>
              <a:rPr lang="sr-Latn-CS" altLang="en-US" dirty="0"/>
              <a:t>Problem skalabilnosti može se rešiti korišćenjem replika i keširanja</a:t>
            </a:r>
          </a:p>
          <a:p>
            <a:pPr lvl="1"/>
            <a:r>
              <a:rPr lang="sr-Latn-CS" altLang="en-US" dirty="0"/>
              <a:t>Da bi se kopije održale konzistentnim zahteva se globalna sinhronizacija, koja je veoma skupa u pogledu performansi </a:t>
            </a:r>
          </a:p>
          <a:p>
            <a:pPr lvl="2"/>
            <a:r>
              <a:rPr lang="sr-Latn-CS" altLang="en-US" dirty="0"/>
              <a:t>lek može biti opasniji od bolesti!</a:t>
            </a:r>
            <a:endParaRPr lang="en-US" altLang="en-US" dirty="0"/>
          </a:p>
          <a:p>
            <a:pPr lvl="2"/>
            <a:r>
              <a:rPr lang="sr-Latn-CS" altLang="en-US" dirty="0"/>
              <a:t>Kada i kako će se izvršiti ažuriranje kopija, određuje cenu replikacije.</a:t>
            </a:r>
            <a:endParaRPr lang="en-US" dirty="0"/>
          </a:p>
        </p:txBody>
      </p:sp>
    </p:spTree>
    <p:extLst>
      <p:ext uri="{BB962C8B-B14F-4D97-AF65-F5344CB8AC3E}">
        <p14:creationId xmlns="" xmlns:p14="http://schemas.microsoft.com/office/powerpoint/2010/main" val="3772600456"/>
      </p:ext>
    </p:extLst>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sr-Latn-CS" altLang="en-US"/>
              <a:t>Modeli konzistencije</a:t>
            </a:r>
            <a:endParaRPr lang="en-US" altLang="en-US"/>
          </a:p>
        </p:txBody>
      </p:sp>
      <p:sp>
        <p:nvSpPr>
          <p:cNvPr id="12291" name="Rectangle 3"/>
          <p:cNvSpPr>
            <a:spLocks noGrp="1" noChangeArrowheads="1"/>
          </p:cNvSpPr>
          <p:nvPr>
            <p:ph type="body" idx="1"/>
          </p:nvPr>
        </p:nvSpPr>
        <p:spPr>
          <a:xfrm>
            <a:off x="0" y="708025"/>
            <a:ext cx="9144000" cy="3330575"/>
          </a:xfrm>
        </p:spPr>
        <p:txBody>
          <a:bodyPr/>
          <a:lstStyle/>
          <a:p>
            <a:pPr>
              <a:lnSpc>
                <a:spcPct val="90000"/>
              </a:lnSpc>
              <a:defRPr/>
            </a:pPr>
            <a:r>
              <a:rPr lang="sr-Latn-CS" altLang="en-US" sz="2000"/>
              <a:t>Konzistencija se uvek razamatra u kontekstu read i write operacija</a:t>
            </a:r>
          </a:p>
          <a:p>
            <a:pPr lvl="1">
              <a:lnSpc>
                <a:spcPct val="90000"/>
              </a:lnSpc>
              <a:defRPr/>
            </a:pPr>
            <a:r>
              <a:rPr lang="sr-Latn-CS" altLang="en-US" sz="1800"/>
              <a:t>Operacije se mogu obavljati nad deljivim podacima koji mogu biti zapamćeni u deljivoj memoriji, deljivoj (distribuiranoj) bazi podataka, ili (distribuiranom) fajl sistemu.</a:t>
            </a:r>
          </a:p>
          <a:p>
            <a:pPr lvl="2">
              <a:lnSpc>
                <a:spcPct val="90000"/>
              </a:lnSpc>
              <a:defRPr/>
            </a:pPr>
            <a:r>
              <a:rPr lang="sr-Latn-CS" altLang="en-US" sz="1600"/>
              <a:t>Termin skladište podataka (data store) se koristi za ovakve podatke.</a:t>
            </a:r>
          </a:p>
          <a:p>
            <a:pPr lvl="2">
              <a:lnSpc>
                <a:spcPct val="90000"/>
              </a:lnSpc>
              <a:defRPr/>
            </a:pPr>
            <a:r>
              <a:rPr lang="sr-Latn-CS" altLang="en-US" sz="1600"/>
              <a:t>Skladište podataka može fizički biti distribuirano na više mašina.</a:t>
            </a:r>
          </a:p>
          <a:p>
            <a:pPr lvl="2">
              <a:lnSpc>
                <a:spcPct val="90000"/>
              </a:lnSpc>
              <a:defRPr/>
            </a:pPr>
            <a:r>
              <a:rPr lang="sr-Latn-CS" altLang="en-US" sz="1600"/>
              <a:t>Usvaja se da svaki proces koji može da pristupi skladištu podataka ima lokalnu (ili u blizini) kopiju celog skladišta.</a:t>
            </a:r>
          </a:p>
          <a:p>
            <a:pPr lvl="2">
              <a:lnSpc>
                <a:spcPct val="90000"/>
              </a:lnSpc>
              <a:defRPr/>
            </a:pPr>
            <a:r>
              <a:rPr lang="sr-Latn-CS" altLang="en-US" sz="1600"/>
              <a:t>Operacija se označava kao write ako menja podatak, u suprotnom se označava kao read.</a:t>
            </a:r>
          </a:p>
          <a:p>
            <a:pPr lvl="2">
              <a:lnSpc>
                <a:spcPct val="90000"/>
              </a:lnSpc>
              <a:defRPr/>
            </a:pPr>
            <a:r>
              <a:rPr lang="sr-Latn-CS" altLang="en-US" sz="1600"/>
              <a:t>Write operacije se prenose (propagiraju) drugim kopijama</a:t>
            </a:r>
            <a:endParaRPr lang="en-US" altLang="en-US" sz="1600"/>
          </a:p>
        </p:txBody>
      </p:sp>
      <p:pic>
        <p:nvPicPr>
          <p:cNvPr id="9220" name="Picture 4"/>
          <p:cNvPicPr>
            <a:picLocks noChangeAspect="1" noChangeArrowheads="1"/>
          </p:cNvPicPr>
          <p:nvPr/>
        </p:nvPicPr>
        <p:blipFill>
          <a:blip r:embed="rId2"/>
          <a:srcRect l="32710" t="45468" r="30144" b="39879"/>
          <a:stretch>
            <a:fillRect/>
          </a:stretch>
        </p:blipFill>
        <p:spPr bwMode="auto">
          <a:xfrm>
            <a:off x="2514600" y="3962400"/>
            <a:ext cx="4867275" cy="2717800"/>
          </a:xfrm>
          <a:prstGeom prst="rect">
            <a:avLst/>
          </a:prstGeom>
          <a:noFill/>
          <a:ln w="9525">
            <a:noFill/>
            <a:miter lim="800000"/>
            <a:headEnd/>
            <a:tailEnd/>
          </a:ln>
        </p:spPr>
      </p:pic>
    </p:spTree>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sr-Latn-CS" altLang="en-US"/>
              <a:t>Modeli konzistencije (nast.)</a:t>
            </a:r>
            <a:endParaRPr lang="en-US" altLang="en-US"/>
          </a:p>
        </p:txBody>
      </p:sp>
      <p:sp>
        <p:nvSpPr>
          <p:cNvPr id="13315" name="Rectangle 3"/>
          <p:cNvSpPr>
            <a:spLocks noGrp="1" noChangeArrowheads="1"/>
          </p:cNvSpPr>
          <p:nvPr>
            <p:ph type="body" idx="1"/>
          </p:nvPr>
        </p:nvSpPr>
        <p:spPr/>
        <p:txBody>
          <a:bodyPr>
            <a:normAutofit lnSpcReduction="10000"/>
          </a:bodyPr>
          <a:lstStyle/>
          <a:p>
            <a:r>
              <a:rPr lang="en-US" dirty="0"/>
              <a:t>Problem </a:t>
            </a:r>
            <a:r>
              <a:rPr lang="en-US" dirty="0" err="1"/>
              <a:t>odr</a:t>
            </a:r>
            <a:r>
              <a:rPr lang="sr-Latn-RS" dirty="0"/>
              <a:t>žavanja konzistentnosti distribuiranih skladišta podataka se javlja zbog konačnog vremena potrebnog za distribuciju ažuriranja (komunikaciono kašnjenje) i nepostojanja globalnog časovnika.</a:t>
            </a:r>
            <a:endParaRPr lang="sr-Latn-CS" altLang="en-US" dirty="0"/>
          </a:p>
          <a:p>
            <a:r>
              <a:rPr lang="sr-Latn-CS" altLang="en-US" dirty="0"/>
              <a:t>Konzistencija </a:t>
            </a:r>
            <a:r>
              <a:rPr lang="en-US" altLang="en-US" dirty="0"/>
              <a:t>je </a:t>
            </a:r>
            <a:r>
              <a:rPr lang="sr-Latn-CS" altLang="en-US" dirty="0"/>
              <a:t>definisana u kontekstu read i write operacija nad deljivim podacima</a:t>
            </a:r>
          </a:p>
          <a:p>
            <a:pPr lvl="1"/>
            <a:r>
              <a:rPr lang="sr-Latn-CS" altLang="en-US" dirty="0"/>
              <a:t>Proces koji obavlja read operaciju očekuje da će dobiti vrednost koja predstavlja rezultat poslednje write operacije</a:t>
            </a:r>
          </a:p>
          <a:p>
            <a:pPr lvl="2"/>
            <a:r>
              <a:rPr lang="sr-Latn-CS" altLang="en-US" dirty="0"/>
              <a:t>U odsustvu globalnog časovnika teško je odrediti koja write operacija je bila poslednja.</a:t>
            </a:r>
          </a:p>
          <a:p>
            <a:pPr lvl="2"/>
            <a:r>
              <a:rPr lang="sr-Latn-CS" altLang="en-US" dirty="0"/>
              <a:t>Zbog toga je potrebno dati druge definicije, koje nisu bazirane na poznavanju globalnog vremena, što dovodi do niza modela konzistentnosti.</a:t>
            </a:r>
          </a:p>
          <a:p>
            <a:pPr lvl="2"/>
            <a:r>
              <a:rPr lang="sr-Latn-CS" altLang="en-US" dirty="0"/>
              <a:t>Svaki model definiše vrednosti koje read operacija nad podatkokm može vratiti.</a:t>
            </a:r>
          </a:p>
          <a:p>
            <a:pPr lvl="2"/>
            <a:r>
              <a:rPr lang="sr-Latn-CS" altLang="en-US" dirty="0"/>
              <a:t>Koji će se model konzistencije koristiti zavisi od aplikacije</a:t>
            </a:r>
            <a:endParaRPr lang="en-US" altLang="en-US" dirty="0"/>
          </a:p>
          <a:p>
            <a:pPr lvl="1"/>
            <a:endParaRPr lang="en-US" altLang="en-US" dirty="0"/>
          </a:p>
        </p:txBody>
      </p:sp>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218BD8-5BFD-4B47-9F60-0708B9741F8D}"/>
              </a:ext>
            </a:extLst>
          </p:cNvPr>
          <p:cNvSpPr>
            <a:spLocks noGrp="1"/>
          </p:cNvSpPr>
          <p:nvPr>
            <p:ph type="title"/>
          </p:nvPr>
        </p:nvSpPr>
        <p:spPr/>
        <p:txBody>
          <a:bodyPr/>
          <a:lstStyle/>
          <a:p>
            <a:r>
              <a:rPr lang="sr-Latn-RS" dirty="0"/>
              <a:t>Modeli konzistencije</a:t>
            </a:r>
            <a:endParaRPr lang="en-US" dirty="0"/>
          </a:p>
        </p:txBody>
      </p:sp>
      <p:sp>
        <p:nvSpPr>
          <p:cNvPr id="3" name="Content Placeholder 2">
            <a:extLst>
              <a:ext uri="{FF2B5EF4-FFF2-40B4-BE49-F238E27FC236}">
                <a16:creationId xmlns="" xmlns:a16="http://schemas.microsoft.com/office/drawing/2014/main" id="{1985199D-218F-4433-9D08-75044D0D6CC7}"/>
              </a:ext>
            </a:extLst>
          </p:cNvPr>
          <p:cNvSpPr>
            <a:spLocks noGrp="1"/>
          </p:cNvSpPr>
          <p:nvPr>
            <p:ph idx="1"/>
          </p:nvPr>
        </p:nvSpPr>
        <p:spPr/>
        <p:txBody>
          <a:bodyPr/>
          <a:lstStyle/>
          <a:p>
            <a:r>
              <a:rPr lang="en-US" dirty="0" err="1"/>
              <a:t>Striktna</a:t>
            </a:r>
            <a:endParaRPr lang="en-US" dirty="0"/>
          </a:p>
          <a:p>
            <a:r>
              <a:rPr lang="en-US" dirty="0" err="1"/>
              <a:t>Sekvencijalna</a:t>
            </a:r>
            <a:endParaRPr lang="en-US" dirty="0"/>
          </a:p>
          <a:p>
            <a:r>
              <a:rPr lang="en-US" dirty="0" err="1"/>
              <a:t>Kauzalna</a:t>
            </a:r>
            <a:r>
              <a:rPr lang="en-US" dirty="0"/>
              <a:t> </a:t>
            </a:r>
          </a:p>
          <a:p>
            <a:r>
              <a:rPr lang="en-US" dirty="0"/>
              <a:t>FIFO</a:t>
            </a:r>
          </a:p>
        </p:txBody>
      </p:sp>
    </p:spTree>
    <p:extLst>
      <p:ext uri="{BB962C8B-B14F-4D97-AF65-F5344CB8AC3E}">
        <p14:creationId xmlns="" xmlns:p14="http://schemas.microsoft.com/office/powerpoint/2010/main" val="489850699"/>
      </p:ext>
    </p:extLst>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sr-Latn-CS" altLang="en-US"/>
              <a:t>Striktna konzistencija</a:t>
            </a:r>
            <a:endParaRPr lang="en-US" altLang="en-US"/>
          </a:p>
        </p:txBody>
      </p:sp>
      <p:sp>
        <p:nvSpPr>
          <p:cNvPr id="14339" name="Rectangle 3"/>
          <p:cNvSpPr>
            <a:spLocks noGrp="1" noChangeArrowheads="1"/>
          </p:cNvSpPr>
          <p:nvPr>
            <p:ph type="body" idx="1"/>
          </p:nvPr>
        </p:nvSpPr>
        <p:spPr/>
        <p:txBody>
          <a:bodyPr/>
          <a:lstStyle/>
          <a:p>
            <a:pPr>
              <a:defRPr/>
            </a:pPr>
            <a:r>
              <a:rPr lang="sr-Latn-CS" altLang="en-US" sz="2400" dirty="0"/>
              <a:t>Najjači model konzistencije:</a:t>
            </a:r>
          </a:p>
          <a:p>
            <a:pPr lvl="1">
              <a:defRPr/>
            </a:pPr>
            <a:r>
              <a:rPr lang="sr-Latn-CS" altLang="en-US" i="1" dirty="0"/>
              <a:t>Bilo koja operacija nad podatkom X vraća rezultat poslednje write operacije nad X.</a:t>
            </a:r>
          </a:p>
          <a:p>
            <a:pPr>
              <a:defRPr/>
            </a:pPr>
            <a:r>
              <a:rPr lang="sr-Latn-CS" altLang="en-US" sz="2400" dirty="0"/>
              <a:t>Definicija je prirodna i očigledna, ali implicitno usvaja postojanje globalnog vremena, tako da određivanje poslednje write operacije bude nedvosmisleno.</a:t>
            </a:r>
          </a:p>
          <a:p>
            <a:pPr lvl="1">
              <a:defRPr/>
            </a:pPr>
            <a:r>
              <a:rPr lang="sr-Latn-CS" altLang="en-US" dirty="0"/>
              <a:t>Jednoprocesorski sistemi tradicionalno podržavaju striktnu konzistenciju.</a:t>
            </a:r>
          </a:p>
          <a:p>
            <a:pPr lvl="2">
              <a:defRPr/>
            </a:pPr>
            <a:r>
              <a:rPr lang="sr-Latn-CS" altLang="en-US" sz="1800" dirty="0"/>
              <a:t>Npr. Ako u programu stoje naredbe a:=1; a:=2; print(a), rezultat print(a) uvek mora biti 2!.</a:t>
            </a:r>
          </a:p>
          <a:p>
            <a:pPr lvl="1">
              <a:defRPr/>
            </a:pPr>
            <a:r>
              <a:rPr lang="sr-Latn-CS" altLang="en-US" dirty="0"/>
              <a:t>U sistemu u kome se podaci nalaze na više mašina, kojima može pristupati više procesa, situacija je mnogo složenija:</a:t>
            </a:r>
          </a:p>
          <a:p>
            <a:pPr lvl="2">
              <a:defRPr/>
            </a:pPr>
            <a:r>
              <a:rPr lang="sr-Latn-CS" altLang="en-US" sz="1800" dirty="0"/>
              <a:t>Pretpostavimo da proces </a:t>
            </a:r>
            <a:r>
              <a:rPr lang="en-US" altLang="en-US" sz="1800" dirty="0"/>
              <a:t>p</a:t>
            </a:r>
            <a:r>
              <a:rPr lang="en-US" altLang="en-US" sz="1800" baseline="-25000" dirty="0"/>
              <a:t>i  </a:t>
            </a:r>
            <a:r>
              <a:rPr lang="sr-Latn-CS" altLang="en-US" sz="1800" dirty="0"/>
              <a:t>ažurira vrednost promenljive x sa 4 na 5 u trenutku</a:t>
            </a:r>
            <a:r>
              <a:rPr lang="sr-Latn-CS" altLang="en-US" sz="1800" dirty="0">
                <a:latin typeface="Arial" panose="020B0604020202020204" pitchFamily="34" charset="0"/>
              </a:rPr>
              <a:t> </a:t>
            </a:r>
            <a:r>
              <a:rPr lang="en-US" altLang="en-US" sz="1800" dirty="0"/>
              <a:t> t</a:t>
            </a:r>
            <a:r>
              <a:rPr lang="en-US" altLang="en-US" sz="1800" baseline="-25000" dirty="0"/>
              <a:t>1</a:t>
            </a:r>
            <a:r>
              <a:rPr lang="en-US" altLang="en-US" sz="1800" dirty="0"/>
              <a:t> </a:t>
            </a:r>
            <a:r>
              <a:rPr lang="sr-Latn-CS" altLang="en-US" sz="1800" dirty="0">
                <a:latin typeface="Arial" panose="020B0604020202020204" pitchFamily="34" charset="0"/>
              </a:rPr>
              <a:t>i </a:t>
            </a:r>
            <a:r>
              <a:rPr lang="sr-Latn-CS" altLang="en-US" sz="1800" dirty="0"/>
              <a:t>šalje novu vrednost svim replikama u grupi</a:t>
            </a:r>
            <a:r>
              <a:rPr lang="sr-Latn-CS" altLang="en-US" sz="1800" dirty="0">
                <a:latin typeface="Arial" panose="020B0604020202020204" pitchFamily="34" charset="0"/>
              </a:rPr>
              <a:t> (</a:t>
            </a:r>
            <a:r>
              <a:rPr lang="en-US" altLang="en-US" sz="1800" dirty="0"/>
              <a:t>multicast</a:t>
            </a:r>
            <a:r>
              <a:rPr lang="sr-Latn-CS" altLang="en-US" sz="1800" dirty="0">
                <a:latin typeface="Arial" panose="020B0604020202020204" pitchFamily="34" charset="0"/>
              </a:rPr>
              <a:t>)</a:t>
            </a:r>
            <a:endParaRPr lang="en-US" altLang="en-US" sz="1800" dirty="0"/>
          </a:p>
          <a:p>
            <a:pPr lvl="2">
              <a:defRPr/>
            </a:pPr>
            <a:r>
              <a:rPr lang="en-US" altLang="en-US" sz="1800" dirty="0" err="1"/>
              <a:t>Proces</a:t>
            </a:r>
            <a:r>
              <a:rPr lang="en-US" altLang="en-US" sz="1800" dirty="0"/>
              <a:t> </a:t>
            </a:r>
            <a:r>
              <a:rPr lang="en-US" altLang="en-US" sz="1800" dirty="0" err="1"/>
              <a:t>p</a:t>
            </a:r>
            <a:r>
              <a:rPr lang="en-US" altLang="en-US" baseline="-25000" dirty="0" err="1"/>
              <a:t>j</a:t>
            </a:r>
            <a:r>
              <a:rPr lang="en-US" altLang="en-US" sz="1800" dirty="0"/>
              <a:t> </a:t>
            </a:r>
            <a:r>
              <a:rPr lang="sr-Latn-CS" altLang="en-US" sz="1800" dirty="0">
                <a:latin typeface="Arial" panose="020B0604020202020204" pitchFamily="34" charset="0"/>
              </a:rPr>
              <a:t>‚</a:t>
            </a:r>
            <a:r>
              <a:rPr lang="sr-Latn-CS" altLang="en-US" sz="1800" dirty="0"/>
              <a:t>čita (</a:t>
            </a:r>
            <a:r>
              <a:rPr lang="en-US" altLang="en-US" sz="1800" dirty="0"/>
              <a:t>read</a:t>
            </a:r>
            <a:r>
              <a:rPr lang="sr-Latn-CS" altLang="en-US" sz="1800" dirty="0"/>
              <a:t>) vrednost promenljive</a:t>
            </a:r>
            <a:r>
              <a:rPr lang="sr-Latn-CS" altLang="en-US" sz="1800" dirty="0">
                <a:latin typeface="Arial" panose="020B0604020202020204" pitchFamily="34" charset="0"/>
              </a:rPr>
              <a:t> </a:t>
            </a:r>
            <a:r>
              <a:rPr lang="sr-Latn-CS" altLang="en-US" sz="1800" dirty="0"/>
              <a:t>x</a:t>
            </a:r>
            <a:r>
              <a:rPr lang="sr-Latn-CS" altLang="en-US" sz="1800" dirty="0">
                <a:latin typeface="Arial" panose="020B0604020202020204" pitchFamily="34" charset="0"/>
              </a:rPr>
              <a:t> </a:t>
            </a:r>
            <a:r>
              <a:rPr lang="sr-Latn-CS" altLang="en-US" sz="1800" dirty="0"/>
              <a:t>u trenutku</a:t>
            </a:r>
            <a:r>
              <a:rPr lang="sr-Latn-CS" altLang="en-US" sz="1800" dirty="0">
                <a:latin typeface="Arial" panose="020B0604020202020204" pitchFamily="34" charset="0"/>
              </a:rPr>
              <a:t> </a:t>
            </a:r>
            <a:r>
              <a:rPr lang="en-US" altLang="en-US" sz="1800" dirty="0"/>
              <a:t>t</a:t>
            </a:r>
            <a:r>
              <a:rPr lang="en-US" altLang="en-US" baseline="-25000" dirty="0"/>
              <a:t>2</a:t>
            </a:r>
            <a:r>
              <a:rPr lang="en-US" altLang="en-US" sz="1800" dirty="0"/>
              <a:t> (t</a:t>
            </a:r>
            <a:r>
              <a:rPr lang="en-US" altLang="en-US" baseline="-25000" dirty="0"/>
              <a:t>2</a:t>
            </a:r>
            <a:r>
              <a:rPr lang="en-US" altLang="en-US" sz="1800" dirty="0"/>
              <a:t> &gt; t</a:t>
            </a:r>
            <a:r>
              <a:rPr lang="en-US" altLang="en-US" baseline="-25000" dirty="0"/>
              <a:t>1</a:t>
            </a:r>
            <a:r>
              <a:rPr lang="en-US" altLang="en-US" sz="1800" dirty="0"/>
              <a:t>).</a:t>
            </a:r>
          </a:p>
          <a:p>
            <a:pPr lvl="2">
              <a:defRPr/>
            </a:pPr>
            <a:r>
              <a:rPr lang="en-US" altLang="en-US" sz="1800" dirty="0" err="1"/>
              <a:t>Proces</a:t>
            </a:r>
            <a:r>
              <a:rPr lang="en-US" altLang="en-US" sz="1800" dirty="0"/>
              <a:t> </a:t>
            </a:r>
            <a:r>
              <a:rPr lang="en-US" altLang="en-US" sz="1800" dirty="0" err="1"/>
              <a:t>p</a:t>
            </a:r>
            <a:r>
              <a:rPr lang="en-US" altLang="en-US" baseline="-25000" dirty="0" err="1"/>
              <a:t>j</a:t>
            </a:r>
            <a:r>
              <a:rPr lang="en-US" altLang="en-US" sz="1800" dirty="0"/>
              <a:t> </a:t>
            </a:r>
            <a:r>
              <a:rPr lang="sr-Latn-CS" altLang="en-US" sz="1800" dirty="0"/>
              <a:t>treba da pročita vrednost 5, bez obzira kolika je razlika</a:t>
            </a:r>
            <a:r>
              <a:rPr lang="sr-Latn-CS" altLang="en-US" sz="1800" dirty="0">
                <a:latin typeface="Arial" panose="020B0604020202020204" pitchFamily="34" charset="0"/>
              </a:rPr>
              <a:t> </a:t>
            </a:r>
            <a:r>
              <a:rPr lang="en-US" altLang="en-US" sz="1800" dirty="0"/>
              <a:t>(t</a:t>
            </a:r>
            <a:r>
              <a:rPr lang="en-US" altLang="en-US" baseline="-25000" dirty="0"/>
              <a:t>2</a:t>
            </a:r>
            <a:r>
              <a:rPr lang="en-US" altLang="en-US" sz="1800" dirty="0"/>
              <a:t>-t</a:t>
            </a:r>
            <a:r>
              <a:rPr lang="en-US" altLang="en-US" baseline="-25000" dirty="0"/>
              <a:t>1</a:t>
            </a:r>
            <a:r>
              <a:rPr lang="en-US" altLang="en-US" sz="1800" dirty="0"/>
              <a:t>). </a:t>
            </a:r>
          </a:p>
          <a:p>
            <a:pPr lvl="1">
              <a:defRPr/>
            </a:pPr>
            <a:endParaRPr lang="en-US" altLang="en-US" sz="2100" dirty="0"/>
          </a:p>
        </p:txBody>
      </p:sp>
    </p:spTree>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E99C69EA-48B7-4DC1-BA55-215785CE86F8}"/>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2586163A-90DB-41D7-9B09-15C905BADF1F}"/>
              </a:ext>
            </a:extLst>
          </p:cNvPr>
          <p:cNvSpPr>
            <a:spLocks noGrp="1"/>
          </p:cNvSpPr>
          <p:nvPr>
            <p:ph idx="1"/>
          </p:nvPr>
        </p:nvSpPr>
        <p:spPr/>
        <p:txBody>
          <a:bodyPr>
            <a:normAutofit fontScale="85000" lnSpcReduction="10000"/>
          </a:bodyPr>
          <a:lstStyle/>
          <a:p>
            <a:r>
              <a:rPr lang="sr-Latn-CS" altLang="en-US" dirty="0"/>
              <a:t>U sistemu u kome se podaci nalaze na više mašina, kojima može pristupati više procesa, situacija je mnogo složenija:</a:t>
            </a:r>
          </a:p>
          <a:p>
            <a:pPr lvl="1"/>
            <a:r>
              <a:rPr lang="sr-Latn-CS" altLang="en-US" dirty="0"/>
              <a:t>Pretpostavimo da proces P</a:t>
            </a:r>
            <a:r>
              <a:rPr lang="en-US" altLang="en-US" dirty="0"/>
              <a:t>i  </a:t>
            </a:r>
            <a:r>
              <a:rPr lang="sr-Latn-CS" altLang="en-US" dirty="0"/>
              <a:t>ažurira vrednost promenljive x sa 4 na 5 u trenutku </a:t>
            </a:r>
            <a:r>
              <a:rPr lang="en-US" altLang="en-US" dirty="0"/>
              <a:t> t1 </a:t>
            </a:r>
            <a:r>
              <a:rPr lang="sr-Latn-CS" altLang="en-US" dirty="0"/>
              <a:t>i šalje novu vrednost svim replikama u grupi (</a:t>
            </a:r>
            <a:r>
              <a:rPr lang="en-US" altLang="en-US" dirty="0"/>
              <a:t>multicast</a:t>
            </a:r>
            <a:r>
              <a:rPr lang="sr-Latn-CS" altLang="en-US" dirty="0"/>
              <a:t>)</a:t>
            </a:r>
            <a:endParaRPr lang="en-US" altLang="en-US" dirty="0"/>
          </a:p>
          <a:p>
            <a:pPr lvl="1"/>
            <a:r>
              <a:rPr lang="en-US" altLang="en-US" dirty="0" err="1"/>
              <a:t>Proces</a:t>
            </a:r>
            <a:r>
              <a:rPr lang="en-US" altLang="en-US" dirty="0"/>
              <a:t> </a:t>
            </a:r>
            <a:r>
              <a:rPr lang="sr-Latn-RS" altLang="en-US" dirty="0"/>
              <a:t>P</a:t>
            </a:r>
            <a:r>
              <a:rPr lang="en-US" altLang="en-US" dirty="0"/>
              <a:t>j </a:t>
            </a:r>
            <a:r>
              <a:rPr lang="sr-Latn-CS" altLang="en-US" dirty="0"/>
              <a:t>‚čita (</a:t>
            </a:r>
            <a:r>
              <a:rPr lang="en-US" altLang="en-US" dirty="0"/>
              <a:t>read</a:t>
            </a:r>
            <a:r>
              <a:rPr lang="sr-Latn-CS" altLang="en-US" dirty="0"/>
              <a:t>) vrednost promenljive x u trenutku </a:t>
            </a:r>
            <a:r>
              <a:rPr lang="en-US" altLang="en-US" dirty="0"/>
              <a:t>t2 (t2 &gt; t1).</a:t>
            </a:r>
          </a:p>
          <a:p>
            <a:pPr lvl="1"/>
            <a:r>
              <a:rPr lang="en-US" altLang="en-US" dirty="0" err="1"/>
              <a:t>Proces</a:t>
            </a:r>
            <a:r>
              <a:rPr lang="en-US" altLang="en-US" dirty="0"/>
              <a:t> </a:t>
            </a:r>
            <a:r>
              <a:rPr lang="sr-Latn-RS" altLang="en-US" dirty="0"/>
              <a:t>P</a:t>
            </a:r>
            <a:r>
              <a:rPr lang="en-US" altLang="en-US" dirty="0"/>
              <a:t>j </a:t>
            </a:r>
            <a:r>
              <a:rPr lang="sr-Latn-CS" altLang="en-US" dirty="0"/>
              <a:t>treba da pročita vrednost 5, bez obzira kolika je razlika </a:t>
            </a:r>
            <a:r>
              <a:rPr lang="en-US" altLang="en-US" dirty="0"/>
              <a:t>(t2-t1).</a:t>
            </a:r>
            <a:endParaRPr lang="sr-Latn-RS" altLang="en-US" dirty="0"/>
          </a:p>
          <a:p>
            <a:pPr lvl="1"/>
            <a:r>
              <a:rPr lang="en-US" dirty="0" err="1"/>
              <a:t>šta</a:t>
            </a:r>
            <a:r>
              <a:rPr lang="en-US" dirty="0"/>
              <a:t> </a:t>
            </a:r>
            <a:r>
              <a:rPr lang="en-US" dirty="0" err="1"/>
              <a:t>ako</a:t>
            </a:r>
            <a:r>
              <a:rPr lang="en-US" dirty="0"/>
              <a:t> je  t2-t1 =  1 </a:t>
            </a:r>
            <a:r>
              <a:rPr lang="en-US" dirty="0" err="1"/>
              <a:t>nsec</a:t>
            </a:r>
            <a:r>
              <a:rPr lang="en-US" dirty="0"/>
              <a:t> i </a:t>
            </a:r>
            <a:r>
              <a:rPr lang="en-US" dirty="0" err="1"/>
              <a:t>koriste</a:t>
            </a:r>
            <a:r>
              <a:rPr lang="en-US" dirty="0"/>
              <a:t> se </a:t>
            </a:r>
            <a:r>
              <a:rPr lang="en-US" dirty="0" err="1"/>
              <a:t>optička</a:t>
            </a:r>
            <a:r>
              <a:rPr lang="en-US" dirty="0"/>
              <a:t> </a:t>
            </a:r>
            <a:r>
              <a:rPr lang="en-US" dirty="0" err="1"/>
              <a:t>vlakna</a:t>
            </a:r>
            <a:r>
              <a:rPr lang="en-US" dirty="0"/>
              <a:t> </a:t>
            </a:r>
            <a:r>
              <a:rPr lang="en-US" dirty="0" err="1"/>
              <a:t>izmedju</a:t>
            </a:r>
            <a:r>
              <a:rPr lang="en-US" dirty="0"/>
              <a:t> </a:t>
            </a:r>
            <a:r>
              <a:rPr lang="en-US" dirty="0" err="1"/>
              <a:t>dve</a:t>
            </a:r>
            <a:r>
              <a:rPr lang="en-US" dirty="0"/>
              <a:t> host </a:t>
            </a:r>
            <a:r>
              <a:rPr lang="en-US" dirty="0" err="1"/>
              <a:t>mašine</a:t>
            </a:r>
            <a:r>
              <a:rPr lang="en-US" dirty="0"/>
              <a:t> (</a:t>
            </a:r>
            <a:r>
              <a:rPr lang="en-US" dirty="0" err="1"/>
              <a:t>na</a:t>
            </a:r>
            <a:r>
              <a:rPr lang="en-US" dirty="0"/>
              <a:t> </a:t>
            </a:r>
            <a:r>
              <a:rPr lang="en-US" dirty="0" err="1"/>
              <a:t>kojima</a:t>
            </a:r>
            <a:r>
              <a:rPr lang="en-US" dirty="0"/>
              <a:t> se </a:t>
            </a:r>
            <a:r>
              <a:rPr lang="en-US" dirty="0" err="1"/>
              <a:t>izvršavaju</a:t>
            </a:r>
            <a:r>
              <a:rPr lang="en-US" dirty="0"/>
              <a:t> ova </a:t>
            </a:r>
            <a:r>
              <a:rPr lang="en-US" dirty="0" err="1"/>
              <a:t>dva</a:t>
            </a:r>
            <a:r>
              <a:rPr lang="en-US" dirty="0"/>
              <a:t> </a:t>
            </a:r>
            <a:r>
              <a:rPr lang="en-US" dirty="0" err="1"/>
              <a:t>procesa</a:t>
            </a:r>
            <a:r>
              <a:rPr lang="en-US" dirty="0"/>
              <a:t>) </a:t>
            </a:r>
            <a:r>
              <a:rPr lang="en-US" dirty="0" err="1"/>
              <a:t>koje</a:t>
            </a:r>
            <a:r>
              <a:rPr lang="en-US" dirty="0"/>
              <a:t> se </a:t>
            </a:r>
            <a:r>
              <a:rPr lang="en-US" dirty="0" err="1"/>
              <a:t>nalaze</a:t>
            </a:r>
            <a:r>
              <a:rPr lang="en-US" dirty="0"/>
              <a:t> </a:t>
            </a:r>
            <a:r>
              <a:rPr lang="en-US" dirty="0" err="1"/>
              <a:t>na</a:t>
            </a:r>
            <a:r>
              <a:rPr lang="en-US" dirty="0"/>
              <a:t> </a:t>
            </a:r>
            <a:r>
              <a:rPr lang="en-US" dirty="0" err="1"/>
              <a:t>rastojanju</a:t>
            </a:r>
            <a:r>
              <a:rPr lang="en-US" dirty="0"/>
              <a:t> od  3 </a:t>
            </a:r>
            <a:r>
              <a:rPr lang="en-US" dirty="0" err="1"/>
              <a:t>metra</a:t>
            </a:r>
            <a:r>
              <a:rPr lang="en-US" dirty="0"/>
              <a:t>?.</a:t>
            </a:r>
          </a:p>
          <a:p>
            <a:pPr lvl="1"/>
            <a:r>
              <a:rPr lang="en-US" dirty="0" err="1"/>
              <a:t>Poruka</a:t>
            </a:r>
            <a:r>
              <a:rPr lang="en-US" dirty="0"/>
              <a:t> </a:t>
            </a:r>
            <a:r>
              <a:rPr lang="en-US" dirty="0" err="1"/>
              <a:t>kojom</a:t>
            </a:r>
            <a:r>
              <a:rPr lang="en-US" dirty="0"/>
              <a:t> se </a:t>
            </a:r>
            <a:r>
              <a:rPr lang="en-US" dirty="0" err="1"/>
              <a:t>zahteva</a:t>
            </a:r>
            <a:r>
              <a:rPr lang="en-US" dirty="0"/>
              <a:t> </a:t>
            </a:r>
            <a:r>
              <a:rPr lang="en-US" dirty="0" err="1"/>
              <a:t>ažuriranje</a:t>
            </a:r>
            <a:r>
              <a:rPr lang="en-US" dirty="0"/>
              <a:t> </a:t>
            </a:r>
            <a:r>
              <a:rPr lang="en-US" dirty="0" err="1"/>
              <a:t>morala</a:t>
            </a:r>
            <a:r>
              <a:rPr lang="en-US" dirty="0"/>
              <a:t> bi da </a:t>
            </a:r>
            <a:r>
              <a:rPr lang="en-US" dirty="0" err="1"/>
              <a:t>putuje</a:t>
            </a:r>
            <a:r>
              <a:rPr lang="en-US" dirty="0"/>
              <a:t> 10 puta </a:t>
            </a:r>
            <a:r>
              <a:rPr lang="en-US" dirty="0" err="1"/>
              <a:t>brže</a:t>
            </a:r>
            <a:r>
              <a:rPr lang="en-US" dirty="0"/>
              <a:t> od </a:t>
            </a:r>
            <a:r>
              <a:rPr lang="en-US" dirty="0" err="1"/>
              <a:t>brzine</a:t>
            </a:r>
            <a:r>
              <a:rPr lang="en-US" dirty="0"/>
              <a:t> </a:t>
            </a:r>
            <a:r>
              <a:rPr lang="en-US" dirty="0" err="1"/>
              <a:t>svetlosti</a:t>
            </a:r>
            <a:endParaRPr lang="en-US" dirty="0"/>
          </a:p>
          <a:p>
            <a:pPr lvl="1"/>
            <a:r>
              <a:rPr lang="en-US" dirty="0"/>
              <a:t>Po </a:t>
            </a:r>
            <a:r>
              <a:rPr lang="en-US" dirty="0" err="1"/>
              <a:t>Ajnštajnovoj</a:t>
            </a:r>
            <a:r>
              <a:rPr lang="en-US" dirty="0"/>
              <a:t> </a:t>
            </a:r>
            <a:r>
              <a:rPr lang="en-US" dirty="0" err="1"/>
              <a:t>specijalnoj</a:t>
            </a:r>
            <a:r>
              <a:rPr lang="en-US" dirty="0"/>
              <a:t> </a:t>
            </a:r>
            <a:r>
              <a:rPr lang="en-US" dirty="0" err="1"/>
              <a:t>teoriji</a:t>
            </a:r>
            <a:r>
              <a:rPr lang="en-US" dirty="0"/>
              <a:t> </a:t>
            </a:r>
            <a:r>
              <a:rPr lang="en-US" dirty="0" err="1"/>
              <a:t>relativiteta</a:t>
            </a:r>
            <a:r>
              <a:rPr lang="en-US" dirty="0"/>
              <a:t> to </a:t>
            </a:r>
            <a:r>
              <a:rPr lang="en-US" dirty="0" err="1"/>
              <a:t>nije</a:t>
            </a:r>
            <a:r>
              <a:rPr lang="en-US" dirty="0"/>
              <a:t> </a:t>
            </a:r>
            <a:r>
              <a:rPr lang="en-US" dirty="0" err="1"/>
              <a:t>moguće</a:t>
            </a:r>
            <a:r>
              <a:rPr lang="en-US" dirty="0"/>
              <a:t>! </a:t>
            </a:r>
          </a:p>
          <a:p>
            <a:r>
              <a:rPr lang="en-US" dirty="0" err="1"/>
              <a:t>Zaključak</a:t>
            </a:r>
            <a:r>
              <a:rPr lang="en-US" dirty="0"/>
              <a:t>: </a:t>
            </a:r>
            <a:r>
              <a:rPr lang="en-US" dirty="0" err="1"/>
              <a:t>striktnu</a:t>
            </a:r>
            <a:r>
              <a:rPr lang="en-US" dirty="0"/>
              <a:t> </a:t>
            </a:r>
            <a:r>
              <a:rPr lang="en-US" dirty="0" err="1"/>
              <a:t>konzistenciju</a:t>
            </a:r>
            <a:r>
              <a:rPr lang="en-US" dirty="0"/>
              <a:t> u </a:t>
            </a:r>
            <a:r>
              <a:rPr lang="en-US" dirty="0" err="1"/>
              <a:t>distribuiranom</a:t>
            </a:r>
            <a:r>
              <a:rPr lang="en-US" dirty="0"/>
              <a:t> </a:t>
            </a:r>
            <a:r>
              <a:rPr lang="en-US" dirty="0" err="1"/>
              <a:t>sistemu</a:t>
            </a:r>
            <a:r>
              <a:rPr lang="en-US" dirty="0"/>
              <a:t> je </a:t>
            </a:r>
            <a:r>
              <a:rPr lang="en-US" dirty="0" err="1"/>
              <a:t>nemoguće</a:t>
            </a:r>
            <a:r>
              <a:rPr lang="en-US" dirty="0"/>
              <a:t> </a:t>
            </a:r>
            <a:r>
              <a:rPr lang="en-US" dirty="0" err="1"/>
              <a:t>postići</a:t>
            </a:r>
            <a:r>
              <a:rPr lang="en-US" dirty="0"/>
              <a:t>!</a:t>
            </a:r>
          </a:p>
          <a:p>
            <a:r>
              <a:rPr lang="en-US" dirty="0"/>
              <a:t>Problem </a:t>
            </a:r>
            <a:r>
              <a:rPr lang="en-US" dirty="0" err="1"/>
              <a:t>sa</a:t>
            </a:r>
            <a:r>
              <a:rPr lang="en-US" dirty="0"/>
              <a:t> </a:t>
            </a:r>
            <a:r>
              <a:rPr lang="en-US" dirty="0" err="1"/>
              <a:t>striktnom</a:t>
            </a:r>
            <a:r>
              <a:rPr lang="en-US" dirty="0"/>
              <a:t> </a:t>
            </a:r>
            <a:r>
              <a:rPr lang="en-US" dirty="0" err="1"/>
              <a:t>konzistencijom</a:t>
            </a:r>
            <a:r>
              <a:rPr lang="en-US" dirty="0"/>
              <a:t> je </a:t>
            </a:r>
            <a:r>
              <a:rPr lang="en-US" dirty="0" err="1"/>
              <a:t>što</a:t>
            </a:r>
            <a:r>
              <a:rPr lang="en-US" dirty="0"/>
              <a:t> se model </a:t>
            </a:r>
            <a:r>
              <a:rPr lang="en-US" dirty="0" err="1"/>
              <a:t>zasniva</a:t>
            </a:r>
            <a:r>
              <a:rPr lang="en-US" dirty="0"/>
              <a:t> </a:t>
            </a:r>
            <a:r>
              <a:rPr lang="en-US" dirty="0" err="1"/>
              <a:t>na</a:t>
            </a:r>
            <a:r>
              <a:rPr lang="en-US" dirty="0"/>
              <a:t> </a:t>
            </a:r>
            <a:r>
              <a:rPr lang="en-US" dirty="0" err="1"/>
              <a:t>apsolutnom</a:t>
            </a:r>
            <a:r>
              <a:rPr lang="en-US" dirty="0"/>
              <a:t> </a:t>
            </a:r>
            <a:r>
              <a:rPr lang="en-US" dirty="0" err="1"/>
              <a:t>globalnom</a:t>
            </a:r>
            <a:r>
              <a:rPr lang="en-US" dirty="0"/>
              <a:t> </a:t>
            </a:r>
            <a:r>
              <a:rPr lang="en-US" dirty="0" err="1"/>
              <a:t>vremenu</a:t>
            </a:r>
            <a:r>
              <a:rPr lang="en-US" dirty="0"/>
              <a:t>.</a:t>
            </a:r>
          </a:p>
        </p:txBody>
      </p:sp>
    </p:spTree>
    <p:extLst>
      <p:ext uri="{BB962C8B-B14F-4D97-AF65-F5344CB8AC3E}">
        <p14:creationId xmlns="" xmlns:p14="http://schemas.microsoft.com/office/powerpoint/2010/main" val="3799997823"/>
      </p:ext>
    </p:extLst>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sr-Latn-CS" altLang="en-US"/>
              <a:t>Striktna konzistencija (nast.)</a:t>
            </a:r>
            <a:endParaRPr lang="en-US" altLang="en-US"/>
          </a:p>
        </p:txBody>
      </p:sp>
      <p:sp>
        <p:nvSpPr>
          <p:cNvPr id="15363" name="Rectangle 3"/>
          <p:cNvSpPr>
            <a:spLocks noGrp="1" noChangeArrowheads="1"/>
          </p:cNvSpPr>
          <p:nvPr>
            <p:ph type="body" idx="1"/>
          </p:nvPr>
        </p:nvSpPr>
        <p:spPr/>
        <p:txBody>
          <a:bodyPr/>
          <a:lstStyle/>
          <a:p>
            <a:r>
              <a:rPr lang="sr-Latn-CS" altLang="en-US" dirty="0"/>
              <a:t>Oznake:</a:t>
            </a:r>
          </a:p>
          <a:p>
            <a:pPr lvl="1"/>
            <a:r>
              <a:rPr lang="sr-Latn-CS" altLang="en-US"/>
              <a:t>Wi</a:t>
            </a:r>
            <a:r>
              <a:rPr lang="sr-Latn-CS" altLang="en-US" dirty="0"/>
              <a:t>(x)a - označava da proces i obavlja write nad podatkom x, nakon čega je vrednost x=a</a:t>
            </a:r>
          </a:p>
          <a:p>
            <a:pPr lvl="1"/>
            <a:r>
              <a:rPr lang="sr-Latn-CS" altLang="en-US" dirty="0"/>
              <a:t>Ri(x)b – označava da proces i obavlja read nad X i dobija vrednost b. </a:t>
            </a:r>
          </a:p>
          <a:p>
            <a:pPr lvl="2"/>
            <a:r>
              <a:rPr lang="sr-Latn-CS" altLang="en-US" dirty="0"/>
              <a:t>Svaki podatak je inicijalno postavljen na NILL</a:t>
            </a:r>
            <a:endParaRPr lang="en-US" altLang="en-US" dirty="0"/>
          </a:p>
        </p:txBody>
      </p:sp>
      <p:pic>
        <p:nvPicPr>
          <p:cNvPr id="12292" name="Picture 4"/>
          <p:cNvPicPr>
            <a:picLocks noChangeAspect="1" noChangeArrowheads="1"/>
          </p:cNvPicPr>
          <p:nvPr/>
        </p:nvPicPr>
        <p:blipFill>
          <a:blip r:embed="rId2"/>
          <a:srcRect l="21379" t="48338" r="19241" b="42296"/>
          <a:stretch>
            <a:fillRect/>
          </a:stretch>
        </p:blipFill>
        <p:spPr bwMode="auto">
          <a:xfrm>
            <a:off x="838200" y="4267200"/>
            <a:ext cx="7848600" cy="1852613"/>
          </a:xfrm>
          <a:prstGeom prst="rect">
            <a:avLst/>
          </a:prstGeom>
          <a:noFill/>
          <a:ln w="9525">
            <a:noFill/>
            <a:miter lim="800000"/>
            <a:headEnd/>
            <a:tailEnd/>
          </a:ln>
        </p:spPr>
      </p:pic>
      <p:sp>
        <p:nvSpPr>
          <p:cNvPr id="15365" name="Text Box 5"/>
          <p:cNvSpPr txBox="1">
            <a:spLocks noChangeArrowheads="1"/>
          </p:cNvSpPr>
          <p:nvPr/>
        </p:nvSpPr>
        <p:spPr bwMode="auto">
          <a:xfrm>
            <a:off x="1203325" y="5980113"/>
            <a:ext cx="1060450" cy="366712"/>
          </a:xfrm>
          <a:prstGeom prst="rect">
            <a:avLst/>
          </a:prstGeom>
          <a:noFill/>
          <a:ln>
            <a:noFill/>
          </a:ln>
          <a:effectLst/>
        </p:spPr>
        <p:txBody>
          <a:bodyPr wrap="none" anchor="b">
            <a:spAutoFit/>
          </a:bodyPr>
          <a:lstStyle/>
          <a:p>
            <a:pPr>
              <a:defRPr/>
            </a:pPr>
            <a:r>
              <a:rPr lang="sr-Latn-CS" altLang="en-US">
                <a:effectLst>
                  <a:outerShdw blurRad="38100" dist="38100" dir="2700000" algn="tl">
                    <a:srgbClr val="C0C0C0"/>
                  </a:outerShdw>
                </a:effectLst>
                <a:latin typeface="Arial" panose="020B0604020202020204" pitchFamily="34" charset="0"/>
              </a:rPr>
              <a:t>korektno</a:t>
            </a:r>
            <a:endParaRPr lang="en-US" altLang="en-US">
              <a:effectLst>
                <a:outerShdw blurRad="38100" dist="38100" dir="2700000" algn="tl">
                  <a:srgbClr val="C0C0C0"/>
                </a:outerShdw>
              </a:effectLst>
              <a:latin typeface="Arial" panose="020B0604020202020204" pitchFamily="34" charset="0"/>
            </a:endParaRPr>
          </a:p>
        </p:txBody>
      </p:sp>
      <p:sp>
        <p:nvSpPr>
          <p:cNvPr id="15366" name="Text Box 6"/>
          <p:cNvSpPr txBox="1">
            <a:spLocks noChangeArrowheads="1"/>
          </p:cNvSpPr>
          <p:nvPr/>
        </p:nvSpPr>
        <p:spPr bwMode="auto">
          <a:xfrm>
            <a:off x="5410200" y="5562600"/>
            <a:ext cx="3352800" cy="641350"/>
          </a:xfrm>
          <a:prstGeom prst="rect">
            <a:avLst/>
          </a:prstGeom>
          <a:noFill/>
          <a:ln>
            <a:noFill/>
          </a:ln>
          <a:effectLst/>
        </p:spPr>
        <p:txBody>
          <a:bodyPr anchor="b">
            <a:spAutoFit/>
          </a:bodyPr>
          <a:lstStyle/>
          <a:p>
            <a:pPr>
              <a:defRPr/>
            </a:pPr>
            <a:r>
              <a:rPr lang="sr-Latn-CS" altLang="en-US">
                <a:effectLst>
                  <a:outerShdw blurRad="38100" dist="38100" dir="2700000" algn="tl">
                    <a:srgbClr val="C0C0C0"/>
                  </a:outerShdw>
                </a:effectLst>
                <a:latin typeface="Arial" panose="020B0604020202020204" pitchFamily="34" charset="0"/>
              </a:rPr>
              <a:t>Nije korektno sa stanovišta striktne konzistencije.</a:t>
            </a:r>
            <a:endParaRPr lang="en-US" altLang="en-US">
              <a:effectLst>
                <a:outerShdw blurRad="38100" dist="38100" dir="2700000" algn="tl">
                  <a:srgbClr val="C0C0C0"/>
                </a:outerShdw>
              </a:effectLst>
              <a:latin typeface="Arial" panose="020B0604020202020204" pitchFamily="34" charset="0"/>
            </a:endParaRPr>
          </a:p>
        </p:txBody>
      </p:sp>
    </p:spTree>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sr-Latn-CS" altLang="en-US"/>
              <a:t>Striktna konzistencija (nast.)</a:t>
            </a:r>
            <a:endParaRPr lang="en-US" altLang="en-US"/>
          </a:p>
        </p:txBody>
      </p:sp>
      <p:sp>
        <p:nvSpPr>
          <p:cNvPr id="16387" name="Rectangle 3"/>
          <p:cNvSpPr>
            <a:spLocks noGrp="1" noChangeArrowheads="1"/>
          </p:cNvSpPr>
          <p:nvPr>
            <p:ph type="body" idx="1"/>
          </p:nvPr>
        </p:nvSpPr>
        <p:spPr/>
        <p:txBody>
          <a:bodyPr/>
          <a:lstStyle/>
          <a:p>
            <a:pPr>
              <a:lnSpc>
                <a:spcPct val="90000"/>
              </a:lnSpc>
              <a:defRPr/>
            </a:pPr>
            <a:r>
              <a:rPr lang="sr-Latn-CS" altLang="en-US" sz="2400"/>
              <a:t>Ako je skladište podataka striktno konzistentno, svi upisi (write) su trenutno vidljivi svim procesima, bez obzira koliko se brzo dešavaju događaji.</a:t>
            </a:r>
          </a:p>
          <a:p>
            <a:pPr>
              <a:lnSpc>
                <a:spcPct val="90000"/>
              </a:lnSpc>
              <a:defRPr/>
            </a:pPr>
            <a:r>
              <a:rPr lang="sr-Latn-CS" altLang="en-US" sz="2400"/>
              <a:t>Ovakav vid konzistentnosti je praktično nemoguće postići u DS.</a:t>
            </a:r>
          </a:p>
          <a:p>
            <a:pPr>
              <a:lnSpc>
                <a:spcPct val="90000"/>
              </a:lnSpc>
              <a:defRPr/>
            </a:pPr>
            <a:r>
              <a:rPr lang="sr-Latn-CS" altLang="en-US" sz="2400"/>
              <a:t>Uvode se slabiji modeli, koji nisu bazirani na apsolutnom vremenu.</a:t>
            </a:r>
          </a:p>
          <a:p>
            <a:pPr lvl="1">
              <a:lnSpc>
                <a:spcPct val="90000"/>
              </a:lnSpc>
              <a:defRPr/>
            </a:pPr>
            <a:r>
              <a:rPr lang="sr-Latn-CS" altLang="en-US" sz="2100"/>
              <a:t>Iskustva poakzuju da se programeri mogu izboriti sa slabijim modelima konzistencije.</a:t>
            </a:r>
          </a:p>
          <a:p>
            <a:pPr lvl="2">
              <a:lnSpc>
                <a:spcPct val="90000"/>
              </a:lnSpc>
              <a:defRPr/>
            </a:pPr>
            <a:r>
              <a:rPr lang="sr-Latn-CS" altLang="en-US" sz="1800"/>
              <a:t>U OS i paralelnim sistemima koriste se kritične sekcije i uzajamno isključivanje.</a:t>
            </a:r>
          </a:p>
          <a:p>
            <a:pPr lvl="2">
              <a:lnSpc>
                <a:spcPct val="90000"/>
              </a:lnSpc>
              <a:defRPr/>
            </a:pPr>
            <a:r>
              <a:rPr lang="sr-Latn-CS" altLang="en-US" sz="1800"/>
              <a:t>Nikakve pretpostavke o brzini izvršenja procea se ne mogu uvoditi</a:t>
            </a:r>
          </a:p>
          <a:p>
            <a:pPr lvl="2">
              <a:lnSpc>
                <a:spcPct val="90000"/>
              </a:lnSpc>
              <a:defRPr/>
            </a:pPr>
            <a:r>
              <a:rPr lang="sr-Latn-CS" altLang="en-US" sz="1800"/>
              <a:t>Ako je potrebno procese sinhronizovati, to mora biti ugrađeno u sam program</a:t>
            </a:r>
          </a:p>
          <a:p>
            <a:pPr lvl="2">
              <a:lnSpc>
                <a:spcPct val="90000"/>
              </a:lnSpc>
              <a:defRPr/>
            </a:pPr>
            <a:r>
              <a:rPr lang="sr-Latn-CS" altLang="en-US" sz="1800"/>
              <a:t>Kritične sekcije omogućavaju da se pristup deljivom resursu linearizuje, tako što će procesi pristupati resursu uzajamno isključivo.</a:t>
            </a:r>
          </a:p>
          <a:p>
            <a:pPr lvl="2">
              <a:lnSpc>
                <a:spcPct val="90000"/>
              </a:lnSpc>
              <a:defRPr/>
            </a:pPr>
            <a:r>
              <a:rPr lang="sr-Latn-CS" altLang="en-US" sz="1800"/>
              <a:t>Ako je potrebno ostvariti određeni redosled pristupa deljivom resursu to je moguće ostvariti korišćenjem semafora.</a:t>
            </a:r>
            <a:endParaRPr lang="en-US" altLang="en-US" sz="1800"/>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641350"/>
          </a:xfrm>
        </p:spPr>
        <p:txBody>
          <a:bodyPr/>
          <a:lstStyle/>
          <a:p>
            <a:pPr>
              <a:defRPr/>
            </a:pPr>
            <a:r>
              <a:rPr lang="sr-Latn-CS" altLang="en-US" sz="3600"/>
              <a:t>Sekvencijalna konzistencija</a:t>
            </a:r>
            <a:endParaRPr lang="en-US" altLang="en-US" sz="3600"/>
          </a:p>
        </p:txBody>
      </p:sp>
      <p:sp>
        <p:nvSpPr>
          <p:cNvPr id="17411" name="Rectangle 3"/>
          <p:cNvSpPr>
            <a:spLocks noGrp="1" noChangeArrowheads="1"/>
          </p:cNvSpPr>
          <p:nvPr>
            <p:ph type="body" idx="1"/>
          </p:nvPr>
        </p:nvSpPr>
        <p:spPr>
          <a:xfrm>
            <a:off x="0" y="708025"/>
            <a:ext cx="9144000" cy="3101975"/>
          </a:xfrm>
        </p:spPr>
        <p:txBody>
          <a:bodyPr/>
          <a:lstStyle/>
          <a:p>
            <a:pPr>
              <a:lnSpc>
                <a:spcPct val="80000"/>
              </a:lnSpc>
              <a:defRPr/>
            </a:pPr>
            <a:r>
              <a:rPr lang="sr-Latn-CS" altLang="en-US" sz="1800"/>
              <a:t>Sekvencijalna konzistencija je slabiji model od striktne:</a:t>
            </a:r>
          </a:p>
          <a:p>
            <a:pPr lvl="1">
              <a:lnSpc>
                <a:spcPct val="80000"/>
              </a:lnSpc>
              <a:defRPr/>
            </a:pPr>
            <a:r>
              <a:rPr lang="sr-Latn-CS" altLang="en-US" sz="1600"/>
              <a:t>Rezultat bilo kog izvršenja je isti kao da su (read i write) operacije svih procesa na skladištu podataka izvršene u nekom sekvencijalnom redosledu i operacije svakog pojedinačnog procesa pojavljuju se u ovoj skvenci u redosledu koji je određen njihovim programom.</a:t>
            </a:r>
          </a:p>
          <a:p>
            <a:pPr>
              <a:lnSpc>
                <a:spcPct val="80000"/>
              </a:lnSpc>
              <a:defRPr/>
            </a:pPr>
            <a:r>
              <a:rPr lang="sr-Latn-CS" altLang="en-US" sz="1800"/>
              <a:t>Def. kaže da kada se procesi izvršavaju konkurentno na (moguće) različitim mašinama, bilo koje validno preplitanje read i write operacija je prihvatljivo, ali svi procesi vide isto preplitanje operacija.</a:t>
            </a:r>
          </a:p>
          <a:p>
            <a:pPr lvl="1">
              <a:lnSpc>
                <a:spcPct val="80000"/>
              </a:lnSpc>
              <a:defRPr/>
            </a:pPr>
            <a:r>
              <a:rPr lang="sr-Latn-CS" altLang="en-US" sz="1800"/>
              <a:t>Ovo smo videli na primeru bankovnog računa</a:t>
            </a:r>
            <a:endParaRPr lang="en-US" altLang="en-US" sz="1800"/>
          </a:p>
          <a:p>
            <a:pPr lvl="2">
              <a:lnSpc>
                <a:spcPct val="80000"/>
              </a:lnSpc>
              <a:defRPr/>
            </a:pPr>
            <a:r>
              <a:rPr lang="sr-Latn-CS" altLang="en-US" sz="1600"/>
              <a:t>jedna moguća implementacija je pomoću Lamportovih vremenskih markica. </a:t>
            </a:r>
            <a:endParaRPr lang="en-US" altLang="en-US" sz="1600"/>
          </a:p>
          <a:p>
            <a:pPr lvl="1">
              <a:lnSpc>
                <a:spcPct val="80000"/>
              </a:lnSpc>
              <a:buFont typeface="Wingdings" pitchFamily="2" charset="2"/>
              <a:buNone/>
              <a:defRPr/>
            </a:pPr>
            <a:endParaRPr lang="sr-Latn-CS" altLang="en-US" sz="1600"/>
          </a:p>
          <a:p>
            <a:pPr lvl="1">
              <a:lnSpc>
                <a:spcPct val="80000"/>
              </a:lnSpc>
              <a:defRPr/>
            </a:pPr>
            <a:r>
              <a:rPr lang="sr-Latn-CS" altLang="en-US" sz="1600"/>
              <a:t>U definiciji se ne spominje vreme, tj. Nema termina “poslednja write operacija”</a:t>
            </a:r>
          </a:p>
          <a:p>
            <a:pPr lvl="1">
              <a:lnSpc>
                <a:spcPct val="80000"/>
              </a:lnSpc>
              <a:defRPr/>
            </a:pPr>
            <a:endParaRPr lang="en-US" altLang="en-US" sz="1600"/>
          </a:p>
        </p:txBody>
      </p:sp>
      <p:sp>
        <p:nvSpPr>
          <p:cNvPr id="17413" name="Text Box 5"/>
          <p:cNvSpPr txBox="1">
            <a:spLocks noChangeArrowheads="1"/>
          </p:cNvSpPr>
          <p:nvPr/>
        </p:nvSpPr>
        <p:spPr bwMode="auto">
          <a:xfrm>
            <a:off x="212725" y="6056313"/>
            <a:ext cx="3892550" cy="366712"/>
          </a:xfrm>
          <a:prstGeom prst="rect">
            <a:avLst/>
          </a:prstGeom>
          <a:noFill/>
          <a:ln>
            <a:noFill/>
          </a:ln>
          <a:effectLst/>
        </p:spPr>
        <p:txBody>
          <a:bodyPr wrap="none" anchor="b">
            <a:spAutoFit/>
          </a:bodyPr>
          <a:lstStyle/>
          <a:p>
            <a:pPr>
              <a:defRPr/>
            </a:pPr>
            <a:r>
              <a:rPr lang="sr-Latn-CS" altLang="en-US">
                <a:effectLst>
                  <a:outerShdw blurRad="38100" dist="38100" dir="2700000" algn="tl">
                    <a:srgbClr val="C0C0C0"/>
                  </a:outerShdw>
                </a:effectLst>
                <a:latin typeface="Arial" panose="020B0604020202020204" pitchFamily="34" charset="0"/>
              </a:rPr>
              <a:t>Sekvencijalno konzistentno skladište</a:t>
            </a:r>
            <a:endParaRPr lang="en-US" altLang="en-US">
              <a:effectLst>
                <a:outerShdw blurRad="38100" dist="38100" dir="2700000" algn="tl">
                  <a:srgbClr val="C0C0C0"/>
                </a:outerShdw>
              </a:effectLst>
              <a:latin typeface="Arial" panose="020B0604020202020204" pitchFamily="34" charset="0"/>
            </a:endParaRPr>
          </a:p>
        </p:txBody>
      </p:sp>
      <p:sp>
        <p:nvSpPr>
          <p:cNvPr id="17414" name="Text Box 6"/>
          <p:cNvSpPr txBox="1">
            <a:spLocks noChangeArrowheads="1"/>
          </p:cNvSpPr>
          <p:nvPr/>
        </p:nvSpPr>
        <p:spPr bwMode="auto">
          <a:xfrm>
            <a:off x="4708525" y="5789613"/>
            <a:ext cx="4206875" cy="915987"/>
          </a:xfrm>
          <a:prstGeom prst="rect">
            <a:avLst/>
          </a:prstGeom>
          <a:noFill/>
          <a:ln>
            <a:noFill/>
          </a:ln>
          <a:effectLst/>
        </p:spPr>
        <p:txBody>
          <a:bodyPr anchor="b">
            <a:spAutoFit/>
          </a:bodyPr>
          <a:lstStyle/>
          <a:p>
            <a:pPr>
              <a:defRPr/>
            </a:pPr>
            <a:r>
              <a:rPr lang="sr-Latn-CS" altLang="en-US">
                <a:effectLst>
                  <a:outerShdw blurRad="38100" dist="38100" dir="2700000" algn="tl">
                    <a:srgbClr val="C0C0C0"/>
                  </a:outerShdw>
                </a:effectLst>
                <a:latin typeface="Arial" panose="020B0604020202020204" pitchFamily="34" charset="0"/>
              </a:rPr>
              <a:t>Narušena sekvencijalna konzistentnost jer svi procesi ne vide na isti način operacije.</a:t>
            </a:r>
            <a:endParaRPr lang="en-US" altLang="en-US">
              <a:effectLst>
                <a:outerShdw blurRad="38100" dist="38100" dir="2700000" algn="tl">
                  <a:srgbClr val="C0C0C0"/>
                </a:outerShdw>
              </a:effectLst>
              <a:latin typeface="Arial" panose="020B0604020202020204" pitchFamily="34" charset="0"/>
            </a:endParaRPr>
          </a:p>
        </p:txBody>
      </p:sp>
      <p:grpSp>
        <p:nvGrpSpPr>
          <p:cNvPr id="2" name="Group 13"/>
          <p:cNvGrpSpPr>
            <a:grpSpLocks/>
          </p:cNvGrpSpPr>
          <p:nvPr/>
        </p:nvGrpSpPr>
        <p:grpSpPr bwMode="auto">
          <a:xfrm>
            <a:off x="0" y="3810000"/>
            <a:ext cx="9144000" cy="2084388"/>
            <a:chOff x="0" y="2400"/>
            <a:chExt cx="5760" cy="1313"/>
          </a:xfrm>
        </p:grpSpPr>
        <p:pic>
          <p:nvPicPr>
            <p:cNvPr id="14343" name="Picture 4"/>
            <p:cNvPicPr>
              <a:picLocks noChangeAspect="1" noChangeArrowheads="1"/>
            </p:cNvPicPr>
            <p:nvPr/>
          </p:nvPicPr>
          <p:blipFill>
            <a:blip r:embed="rId2"/>
            <a:srcRect l="20738" t="47885" r="19241" b="42447"/>
            <a:stretch>
              <a:fillRect/>
            </a:stretch>
          </p:blipFill>
          <p:spPr bwMode="auto">
            <a:xfrm>
              <a:off x="0" y="2400"/>
              <a:ext cx="5760" cy="1313"/>
            </a:xfrm>
            <a:prstGeom prst="rect">
              <a:avLst/>
            </a:prstGeom>
            <a:noFill/>
            <a:ln w="9525">
              <a:noFill/>
              <a:miter lim="800000"/>
              <a:headEnd/>
              <a:tailEnd/>
            </a:ln>
          </p:spPr>
        </p:pic>
        <p:sp>
          <p:nvSpPr>
            <p:cNvPr id="17417" name="Oval 9"/>
            <p:cNvSpPr>
              <a:spLocks noChangeArrowheads="1"/>
            </p:cNvSpPr>
            <p:nvPr/>
          </p:nvSpPr>
          <p:spPr bwMode="auto">
            <a:xfrm>
              <a:off x="1309" y="2784"/>
              <a:ext cx="725" cy="701"/>
            </a:xfrm>
            <a:prstGeom prst="ellipse">
              <a:avLst/>
            </a:prstGeom>
            <a:noFill/>
            <a:ln w="28575">
              <a:solidFill>
                <a:srgbClr val="FF9933"/>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17418" name="Oval 10"/>
            <p:cNvSpPr>
              <a:spLocks noChangeArrowheads="1"/>
            </p:cNvSpPr>
            <p:nvPr/>
          </p:nvSpPr>
          <p:spPr bwMode="auto">
            <a:xfrm>
              <a:off x="2077" y="2778"/>
              <a:ext cx="390" cy="630"/>
            </a:xfrm>
            <a:prstGeom prst="ellipse">
              <a:avLst/>
            </a:prstGeom>
            <a:noFill/>
            <a:ln w="28575">
              <a:solidFill>
                <a:srgbClr val="FF9933"/>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17419" name="Oval 11"/>
            <p:cNvSpPr>
              <a:spLocks noChangeArrowheads="1"/>
            </p:cNvSpPr>
            <p:nvPr/>
          </p:nvSpPr>
          <p:spPr bwMode="auto">
            <a:xfrm>
              <a:off x="5136" y="2784"/>
              <a:ext cx="390" cy="630"/>
            </a:xfrm>
            <a:prstGeom prst="ellipse">
              <a:avLst/>
            </a:prstGeom>
            <a:noFill/>
            <a:ln w="28575">
              <a:solidFill>
                <a:srgbClr val="FF9933"/>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17420" name="Oval 12"/>
            <p:cNvSpPr>
              <a:spLocks noChangeArrowheads="1"/>
            </p:cNvSpPr>
            <p:nvPr/>
          </p:nvSpPr>
          <p:spPr bwMode="auto">
            <a:xfrm>
              <a:off x="4416" y="2736"/>
              <a:ext cx="725" cy="701"/>
            </a:xfrm>
            <a:prstGeom prst="ellipse">
              <a:avLst/>
            </a:prstGeom>
            <a:noFill/>
            <a:ln w="28575">
              <a:solidFill>
                <a:srgbClr val="FF9933"/>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gr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lang="sr-Latn-CS" altLang="en-US"/>
              <a:t>Sekvencijalna konzistencija: Primer</a:t>
            </a:r>
            <a:endParaRPr lang="en-US" altLang="en-US"/>
          </a:p>
        </p:txBody>
      </p:sp>
      <p:sp>
        <p:nvSpPr>
          <p:cNvPr id="18435" name="Rectangle 3"/>
          <p:cNvSpPr>
            <a:spLocks noGrp="1" noChangeArrowheads="1"/>
          </p:cNvSpPr>
          <p:nvPr>
            <p:ph type="body" idx="1"/>
          </p:nvPr>
        </p:nvSpPr>
        <p:spPr>
          <a:xfrm>
            <a:off x="0" y="2438400"/>
            <a:ext cx="9144000" cy="4419600"/>
          </a:xfrm>
        </p:spPr>
        <p:txBody>
          <a:bodyPr/>
          <a:lstStyle/>
          <a:p>
            <a:pPr>
              <a:lnSpc>
                <a:spcPct val="80000"/>
              </a:lnSpc>
              <a:defRPr/>
            </a:pPr>
            <a:r>
              <a:rPr lang="sr-Latn-CS" altLang="en-US" sz="2400"/>
              <a:t>Posmatramo tri procesa koji se konkurentno izvršavaju</a:t>
            </a:r>
          </a:p>
          <a:p>
            <a:pPr lvl="1">
              <a:lnSpc>
                <a:spcPct val="80000"/>
              </a:lnSpc>
              <a:defRPr/>
            </a:pPr>
            <a:r>
              <a:rPr lang="sr-Latn-CS" altLang="en-US" sz="2100"/>
              <a:t>x, y i z su celobrojne promenljive inicijalizovane na 0 i zapamćene u deljivom sekvencijalno konzistentnom skladištu podataka.</a:t>
            </a:r>
          </a:p>
          <a:p>
            <a:pPr lvl="1">
              <a:lnSpc>
                <a:spcPct val="80000"/>
              </a:lnSpc>
              <a:defRPr/>
            </a:pPr>
            <a:r>
              <a:rPr lang="sr-Latn-CS" altLang="en-US" sz="2100"/>
              <a:t>Naredba dodeljivanja odgovara write naredbi, print odgovara read operaciji dva argumenta.</a:t>
            </a:r>
          </a:p>
          <a:p>
            <a:pPr lvl="1">
              <a:lnSpc>
                <a:spcPct val="80000"/>
              </a:lnSpc>
              <a:defRPr/>
            </a:pPr>
            <a:r>
              <a:rPr lang="sr-Latn-CS" altLang="en-US" sz="2100"/>
              <a:t>Moguća su različita preplitanja nizova izvršenja naredbi.</a:t>
            </a:r>
          </a:p>
          <a:p>
            <a:pPr lvl="2">
              <a:lnSpc>
                <a:spcPct val="80000"/>
              </a:lnSpc>
              <a:defRPr/>
            </a:pPr>
            <a:r>
              <a:rPr lang="sr-Latn-CS" altLang="en-US" sz="1800"/>
              <a:t>Sa 6 naredbi moguće je dobiti 6! (720) različitih preplitanja, mada neka od njih narušavaju programski redosled.</a:t>
            </a:r>
          </a:p>
          <a:p>
            <a:pPr lvl="2">
              <a:lnSpc>
                <a:spcPct val="80000"/>
              </a:lnSpc>
              <a:defRPr/>
            </a:pPr>
            <a:r>
              <a:rPr lang="sr-Latn-CS" altLang="en-US" sz="1800"/>
              <a:t>Razmotrimo 5! (120) sekvenci koje počinju sa x=1.</a:t>
            </a:r>
          </a:p>
          <a:p>
            <a:pPr lvl="3">
              <a:lnSpc>
                <a:spcPct val="80000"/>
              </a:lnSpc>
              <a:defRPr/>
            </a:pPr>
            <a:r>
              <a:rPr lang="sr-Latn-CS" altLang="en-US" sz="1600"/>
              <a:t>Pola od njih ima print(x,z) pre y=1 i tako narušava sekvencijalno uređenje programa.</a:t>
            </a:r>
          </a:p>
          <a:p>
            <a:pPr lvl="3">
              <a:lnSpc>
                <a:spcPct val="80000"/>
              </a:lnSpc>
              <a:defRPr/>
            </a:pPr>
            <a:r>
              <a:rPr lang="sr-Latn-CS" altLang="en-US" sz="1600"/>
              <a:t>Takođe, pola od preostalih permutacija će imati print(x,y) pre z=1 i takođe narušava sekvencijalni redosled.</a:t>
            </a:r>
          </a:p>
          <a:p>
            <a:pPr lvl="3">
              <a:lnSpc>
                <a:spcPct val="80000"/>
              </a:lnSpc>
              <a:defRPr/>
            </a:pPr>
            <a:r>
              <a:rPr lang="sr-Latn-CS" altLang="en-US" sz="1600"/>
              <a:t>Samo ¼ od 120 mogućih sekvenci (tj. 30) je validno.</a:t>
            </a:r>
          </a:p>
          <a:p>
            <a:pPr lvl="3">
              <a:lnSpc>
                <a:spcPct val="80000"/>
              </a:lnSpc>
              <a:defRPr/>
            </a:pPr>
            <a:r>
              <a:rPr lang="sr-Latn-CS" altLang="en-US" sz="1600"/>
              <a:t>Drugih 30 validnih sekvenci moguće je za y=1 na početku, i još 30 za z=1 na početku, tj. postoji 90 validnih sekvenci izvršenja!</a:t>
            </a:r>
            <a:endParaRPr lang="en-US" altLang="en-US" sz="1600"/>
          </a:p>
        </p:txBody>
      </p:sp>
      <p:graphicFrame>
        <p:nvGraphicFramePr>
          <p:cNvPr id="18474" name="Group 42"/>
          <p:cNvGraphicFramePr>
            <a:graphicFrameLocks noGrp="1"/>
          </p:cNvGraphicFramePr>
          <p:nvPr/>
        </p:nvGraphicFramePr>
        <p:xfrm>
          <a:off x="647700" y="768350"/>
          <a:ext cx="7848600" cy="1528763"/>
        </p:xfrm>
        <a:graphic>
          <a:graphicData uri="http://schemas.openxmlformats.org/drawingml/2006/table">
            <a:tbl>
              <a:tblPr/>
              <a:tblGrid>
                <a:gridCol w="2616200">
                  <a:extLst>
                    <a:ext uri="{9D8B030D-6E8A-4147-A177-3AD203B41FA5}">
                      <a16:colId xmlns="" xmlns:a16="http://schemas.microsoft.com/office/drawing/2014/main" val="20000"/>
                    </a:ext>
                  </a:extLst>
                </a:gridCol>
                <a:gridCol w="2616200">
                  <a:extLst>
                    <a:ext uri="{9D8B030D-6E8A-4147-A177-3AD203B41FA5}">
                      <a16:colId xmlns="" xmlns:a16="http://schemas.microsoft.com/office/drawing/2014/main" val="20001"/>
                    </a:ext>
                  </a:extLst>
                </a:gridCol>
                <a:gridCol w="2616200">
                  <a:extLst>
                    <a:ext uri="{9D8B030D-6E8A-4147-A177-3AD203B41FA5}">
                      <a16:colId xmlns="" xmlns:a16="http://schemas.microsoft.com/office/drawing/2014/main" val="20002"/>
                    </a:ext>
                  </a:extLst>
                </a:gridCol>
              </a:tblGrid>
              <a:tr h="763588">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Process P1</a:t>
                      </a:r>
                    </a:p>
                  </a:txBody>
                  <a:tcPr anchor="ct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Process P2</a:t>
                      </a:r>
                    </a:p>
                  </a:txBody>
                  <a:tcPr anchor="ct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Process P3</a:t>
                      </a:r>
                    </a:p>
                  </a:txBody>
                  <a:tcPr anchor="ct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765175">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 y, z);</a:t>
                      </a:r>
                    </a:p>
                  </a:txBody>
                  <a:tcPr anchor="ctr"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                    write</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            read  </a:t>
                      </a: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 xmlns:a16="http://schemas.microsoft.com/office/drawing/2014/main" val="10001"/>
                  </a:ext>
                </a:extLst>
              </a:tr>
            </a:tbl>
          </a:graphicData>
        </a:graphic>
      </p:graphicFrame>
    </p:spTree>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defRPr/>
            </a:pPr>
            <a:r>
              <a:rPr lang="sr-Latn-CS" altLang="en-US"/>
              <a:t>Primer (nast.)</a:t>
            </a:r>
            <a:endParaRPr lang="en-US" altLang="en-US"/>
          </a:p>
        </p:txBody>
      </p:sp>
      <p:graphicFrame>
        <p:nvGraphicFramePr>
          <p:cNvPr id="21531" name="Group 27"/>
          <p:cNvGraphicFramePr>
            <a:graphicFrameLocks noGrp="1"/>
          </p:cNvGraphicFramePr>
          <p:nvPr>
            <p:ph idx="1"/>
          </p:nvPr>
        </p:nvGraphicFramePr>
        <p:xfrm>
          <a:off x="0" y="708025"/>
          <a:ext cx="9144000" cy="3261324"/>
        </p:xfrm>
        <a:graphic>
          <a:graphicData uri="http://schemas.openxmlformats.org/drawingml/2006/table">
            <a:tbl>
              <a:tblPr/>
              <a:tblGrid>
                <a:gridCol w="2286000">
                  <a:extLst>
                    <a:ext uri="{9D8B030D-6E8A-4147-A177-3AD203B41FA5}">
                      <a16:colId xmlns="" xmlns:a16="http://schemas.microsoft.com/office/drawing/2014/main" val="20000"/>
                    </a:ext>
                  </a:extLst>
                </a:gridCol>
                <a:gridCol w="2274888">
                  <a:extLst>
                    <a:ext uri="{9D8B030D-6E8A-4147-A177-3AD203B41FA5}">
                      <a16:colId xmlns="" xmlns:a16="http://schemas.microsoft.com/office/drawing/2014/main" val="20001"/>
                    </a:ext>
                  </a:extLst>
                </a:gridCol>
                <a:gridCol w="2297112">
                  <a:extLst>
                    <a:ext uri="{9D8B030D-6E8A-4147-A177-3AD203B41FA5}">
                      <a16:colId xmlns="" xmlns:a16="http://schemas.microsoft.com/office/drawing/2014/main" val="20002"/>
                    </a:ext>
                  </a:extLst>
                </a:gridCol>
                <a:gridCol w="2286000">
                  <a:extLst>
                    <a:ext uri="{9D8B030D-6E8A-4147-A177-3AD203B41FA5}">
                      <a16:colId xmlns="" xmlns:a16="http://schemas.microsoft.com/office/drawing/2014/main" val="20003"/>
                    </a:ext>
                  </a:extLst>
                </a:gridCol>
              </a:tblGrid>
              <a:tr h="3260725">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001011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t>
                      </a:r>
                      <a:endPar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t>
                      </a: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(a)</a:t>
                      </a:r>
                    </a:p>
                  </a:txBody>
                  <a:tcPr marT="45702" marB="45702" horzOverflow="overflow">
                    <a:lnL cap="flat">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101011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           </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(b)</a:t>
                      </a:r>
                    </a:p>
                  </a:txBody>
                  <a:tcPr marT="45702" marB="45702" horzOverflow="overflow">
                    <a:lnL>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010111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(c)</a:t>
                      </a:r>
                    </a:p>
                  </a:txBody>
                  <a:tcPr marT="45702" marB="45702" horzOverflow="overflow">
                    <a:lnL>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111111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           </a:t>
                      </a: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t>
                      </a:r>
                      <a:endPar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(d)</a:t>
                      </a:r>
                      <a:endPar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txBody>
                  <a:tcPr marT="45702" marB="45702" horzOverflow="overflow">
                    <a:lnL>
                      <a:noFill/>
                    </a:lnL>
                    <a:lnR cap="flat">
                      <a:noFill/>
                    </a:lnR>
                    <a:lnT cap="flat">
                      <a:noFill/>
                    </a:lnT>
                    <a:lnB cap="flat">
                      <a:noFill/>
                    </a:lnB>
                    <a:lnTlToBr>
                      <a:noFill/>
                    </a:lnTlToBr>
                    <a:lnBlToTr>
                      <a:noFill/>
                    </a:lnBlToTr>
                    <a:noFill/>
                  </a:tcPr>
                </a:tc>
                <a:extLst>
                  <a:ext uri="{0D108BD9-81ED-4DB2-BD59-A6C34878D82A}">
                    <a16:rowId xmlns="" xmlns:a16="http://schemas.microsoft.com/office/drawing/2014/main" val="10000"/>
                  </a:ext>
                </a:extLst>
              </a:tr>
            </a:tbl>
          </a:graphicData>
        </a:graphic>
      </p:graphicFrame>
      <p:sp>
        <p:nvSpPr>
          <p:cNvPr id="21526" name="Text Box 22"/>
          <p:cNvSpPr txBox="1">
            <a:spLocks noChangeArrowheads="1"/>
          </p:cNvSpPr>
          <p:nvPr/>
        </p:nvSpPr>
        <p:spPr bwMode="auto">
          <a:xfrm>
            <a:off x="457200" y="4038600"/>
            <a:ext cx="8016875" cy="2563813"/>
          </a:xfrm>
          <a:prstGeom prst="rect">
            <a:avLst/>
          </a:prstGeom>
          <a:noFill/>
          <a:ln>
            <a:noFill/>
          </a:ln>
          <a:effectLst/>
        </p:spPr>
        <p:txBody>
          <a:bodyPr anchor="b">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defRPr/>
            </a:pPr>
            <a:r>
              <a:rPr lang="sr-Latn-CS" altLang="en-US">
                <a:effectLst>
                  <a:outerShdw blurRad="38100" dist="38100" dir="2700000" algn="tl">
                    <a:srgbClr val="C0C0C0"/>
                  </a:outerShdw>
                </a:effectLst>
              </a:rPr>
              <a:t>Četiri ispravna niza izvršenja naredbi za procese. Vertikalna osa je vreme.</a:t>
            </a:r>
          </a:p>
          <a:p>
            <a:pPr>
              <a:defRPr/>
            </a:pPr>
            <a:r>
              <a:rPr lang="sr-Latn-CS" altLang="en-US">
                <a:effectLst>
                  <a:outerShdw blurRad="38100" dist="38100" dir="2700000" algn="tl">
                    <a:srgbClr val="C0C0C0"/>
                  </a:outerShdw>
                </a:effectLst>
              </a:rPr>
              <a:t>a) Procesi se izvršavaju po redosledu P1, P2, P3.</a:t>
            </a:r>
          </a:p>
          <a:p>
            <a:pPr>
              <a:defRPr/>
            </a:pPr>
            <a:r>
              <a:rPr lang="sr-Latn-CS" altLang="en-US">
                <a:effectLst>
                  <a:outerShdw blurRad="38100" dist="38100" dir="2700000" algn="tl">
                    <a:srgbClr val="C0C0C0"/>
                  </a:outerShdw>
                </a:effectLst>
              </a:rPr>
              <a:t>Sledeća tri primera demonstriraju različita, ali validna preplitanje naredbi u vremenu. Svaki od procesa štampa dve promenljive.  Jedine vrednosti koje promenljive mogu da uzmu su početna vrednost (0) i dodeljena vrednost 1. svaki proces proizvodi 2-bitni niz. Vrednosti iza prints  su izlazi koji se pojavljuju na izlaznom uređaju.</a:t>
            </a:r>
          </a:p>
          <a:p>
            <a:pPr>
              <a:defRPr/>
            </a:pPr>
            <a:r>
              <a:rPr lang="sr-Latn-CS" altLang="en-US">
                <a:effectLst>
                  <a:outerShdw blurRad="38100" dist="38100" dir="2700000" algn="tl">
                    <a:srgbClr val="C0C0C0"/>
                  </a:outerShdw>
                </a:effectLst>
              </a:rPr>
              <a:t>90 različitih validnih sekvenci naredbi generiše različite rezultate (</a:t>
            </a:r>
            <a:r>
              <a:rPr lang="en-US" altLang="en-US">
                <a:effectLst>
                  <a:outerShdw blurRad="38100" dist="38100" dir="2700000" algn="tl">
                    <a:srgbClr val="C0C0C0"/>
                  </a:outerShdw>
                </a:effectLst>
              </a:rPr>
              <a:t>&lt;64)</a:t>
            </a:r>
            <a:r>
              <a:rPr lang="sr-Latn-CS" altLang="en-US">
                <a:effectLst>
                  <a:outerShdw blurRad="38100" dist="38100" dir="2700000" algn="tl">
                    <a:srgbClr val="C0C0C0"/>
                  </a:outerShdw>
                </a:effectLst>
              </a:rPr>
              <a:t> koji su dozvoljeni pod pretpostavkom sekvencijalne konzistencije.</a:t>
            </a:r>
            <a:endParaRPr lang="en-US" altLang="en-US">
              <a:effectLst>
                <a:outerShdw blurRad="38100" dist="38100" dir="2700000" algn="tl">
                  <a:srgbClr val="C0C0C0"/>
                </a:outerShdw>
              </a:effectLst>
            </a:endParaRPr>
          </a:p>
        </p:txBody>
      </p:sp>
      <p:sp>
        <p:nvSpPr>
          <p:cNvPr id="21527" name="Line 23"/>
          <p:cNvSpPr>
            <a:spLocks noChangeShapeType="1"/>
          </p:cNvSpPr>
          <p:nvPr/>
        </p:nvSpPr>
        <p:spPr bwMode="auto">
          <a:xfrm>
            <a:off x="8382000" y="762000"/>
            <a:ext cx="0" cy="2286000"/>
          </a:xfrm>
          <a:prstGeom prst="line">
            <a:avLst/>
          </a:prstGeom>
          <a:noFill/>
          <a:ln w="9525">
            <a:solidFill>
              <a:schemeClr val="tx1"/>
            </a:solidFill>
            <a:round/>
            <a:headEnd/>
            <a:tailEnd type="triangle" w="med" len="med"/>
          </a:ln>
          <a:effectLst/>
        </p:spPr>
        <p:txBody>
          <a:bodyPr wrap="none" anchor="b">
            <a:spAutoFit/>
          </a:bodyP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21528" name="Text Box 24"/>
          <p:cNvSpPr txBox="1">
            <a:spLocks noChangeArrowheads="1"/>
          </p:cNvSpPr>
          <p:nvPr/>
        </p:nvSpPr>
        <p:spPr bwMode="auto">
          <a:xfrm rot="16200000">
            <a:off x="8155782" y="1674018"/>
            <a:ext cx="819150" cy="366713"/>
          </a:xfrm>
          <a:prstGeom prst="rect">
            <a:avLst/>
          </a:prstGeom>
          <a:noFill/>
          <a:ln>
            <a:noFill/>
          </a:ln>
          <a:effectLst/>
        </p:spPr>
        <p:txBody>
          <a:bodyPr wrap="none" anchor="b">
            <a:spAutoFit/>
          </a:bodyPr>
          <a:lstStyle/>
          <a:p>
            <a:pPr>
              <a:defRPr/>
            </a:pPr>
            <a:r>
              <a:rPr lang="sr-Latn-CS" altLang="en-US">
                <a:effectLst>
                  <a:outerShdw blurRad="38100" dist="38100" dir="2700000" algn="tl">
                    <a:srgbClr val="C0C0C0"/>
                  </a:outerShdw>
                </a:effectLst>
                <a:latin typeface="Arial" panose="020B0604020202020204" pitchFamily="34" charset="0"/>
              </a:rPr>
              <a:t>vreme</a:t>
            </a:r>
            <a:endParaRPr lang="en-US" altLang="en-US">
              <a:effectLst>
                <a:outerShdw blurRad="38100" dist="38100" dir="2700000" algn="tl">
                  <a:srgbClr val="C0C0C0"/>
                </a:outerShdw>
              </a:effectLst>
              <a:latin typeface="Arial" panose="020B0604020202020204" pitchFamily="34" charset="0"/>
            </a:endParaRPr>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grpId="0" nodeType="clickEffect">
                                  <p:stCondLst>
                                    <p:cond delay="0"/>
                                  </p:stCondLst>
                                  <p:childTnLst>
                                    <p:animEffect transition="out" filter="fade">
                                      <p:cBhvr>
                                        <p:cTn id="6" dur="2000"/>
                                        <p:tgtEl>
                                          <p:spTgt spid="21526"/>
                                        </p:tgtEl>
                                      </p:cBhvr>
                                    </p:animEffect>
                                    <p:set>
                                      <p:cBhvr>
                                        <p:cTn id="7" dur="1" fill="hold">
                                          <p:stCondLst>
                                            <p:cond delay="1999"/>
                                          </p:stCondLst>
                                        </p:cTn>
                                        <p:tgtEl>
                                          <p:spTgt spid="215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defRPr/>
            </a:pPr>
            <a:r>
              <a:rPr lang="sr-Latn-CS" altLang="en-US"/>
              <a:t>Primer (nast.)</a:t>
            </a:r>
            <a:endParaRPr lang="en-US" altLang="en-US"/>
          </a:p>
        </p:txBody>
      </p:sp>
      <p:sp>
        <p:nvSpPr>
          <p:cNvPr id="57347" name="Rectangle 3"/>
          <p:cNvSpPr>
            <a:spLocks noGrp="1" noChangeArrowheads="1"/>
          </p:cNvSpPr>
          <p:nvPr>
            <p:ph type="body" idx="1"/>
          </p:nvPr>
        </p:nvSpPr>
        <p:spPr>
          <a:xfrm>
            <a:off x="0" y="4038600"/>
            <a:ext cx="9144000" cy="2819400"/>
          </a:xfrm>
        </p:spPr>
        <p:txBody>
          <a:bodyPr/>
          <a:lstStyle/>
          <a:p>
            <a:pPr>
              <a:lnSpc>
                <a:spcPct val="90000"/>
              </a:lnSpc>
              <a:defRPr/>
            </a:pPr>
            <a:r>
              <a:rPr lang="sr-Latn-CS" altLang="en-US" sz="2000"/>
              <a:t>ako izlaze iz P1, P2 i P3 navedemo u tom redosledu, dobija se 6-to bitni niz koji karakteriše pojedina preplitanja naredbi (potpis)</a:t>
            </a:r>
          </a:p>
          <a:p>
            <a:pPr>
              <a:lnSpc>
                <a:spcPct val="90000"/>
              </a:lnSpc>
              <a:defRPr/>
            </a:pPr>
            <a:r>
              <a:rPr lang="sr-Latn-CS" altLang="en-US" sz="2000"/>
              <a:t>pošto su moguće vrednosti promenljivih 0 i 1, to znači da ima 2</a:t>
            </a:r>
            <a:r>
              <a:rPr lang="sr-Latn-CS" altLang="en-US" sz="2000" baseline="30000"/>
              <a:t>6</a:t>
            </a:r>
            <a:r>
              <a:rPr lang="sr-Latn-CS" altLang="en-US" sz="2000"/>
              <a:t>=64 različitih potpisa, ali svi potpisi (tj. preplitanja naredbi nisu dozvoljeni)</a:t>
            </a:r>
          </a:p>
          <a:p>
            <a:pPr>
              <a:lnSpc>
                <a:spcPct val="90000"/>
              </a:lnSpc>
              <a:defRPr/>
            </a:pPr>
            <a:r>
              <a:rPr lang="sr-Latn-CS" altLang="en-US" sz="2000"/>
              <a:t>Npr 000000 nije validan potpis jer bi to značilo da se print naredba izvršila pre naredbe dodeljivanja, narušavajući sekvencijalnu konzistentnost (da se naredbe izvršavaju u redosledu definisanom u svakom od procesa)</a:t>
            </a:r>
          </a:p>
          <a:p>
            <a:pPr>
              <a:lnSpc>
                <a:spcPct val="90000"/>
              </a:lnSpc>
              <a:defRPr/>
            </a:pPr>
            <a:r>
              <a:rPr lang="sr-Latn-CS" altLang="en-US" sz="2000"/>
              <a:t>Šta je sa potpisom 001001?</a:t>
            </a:r>
            <a:endParaRPr lang="en-US" altLang="en-US" sz="2000"/>
          </a:p>
        </p:txBody>
      </p:sp>
      <p:graphicFrame>
        <p:nvGraphicFramePr>
          <p:cNvPr id="57348" name="Group 4"/>
          <p:cNvGraphicFramePr>
            <a:graphicFrameLocks noGrp="1"/>
          </p:cNvGraphicFramePr>
          <p:nvPr/>
        </p:nvGraphicFramePr>
        <p:xfrm>
          <a:off x="0" y="708025"/>
          <a:ext cx="9144000" cy="3261324"/>
        </p:xfrm>
        <a:graphic>
          <a:graphicData uri="http://schemas.openxmlformats.org/drawingml/2006/table">
            <a:tbl>
              <a:tblPr/>
              <a:tblGrid>
                <a:gridCol w="2286000">
                  <a:extLst>
                    <a:ext uri="{9D8B030D-6E8A-4147-A177-3AD203B41FA5}">
                      <a16:colId xmlns="" xmlns:a16="http://schemas.microsoft.com/office/drawing/2014/main" val="20000"/>
                    </a:ext>
                  </a:extLst>
                </a:gridCol>
                <a:gridCol w="2274888">
                  <a:extLst>
                    <a:ext uri="{9D8B030D-6E8A-4147-A177-3AD203B41FA5}">
                      <a16:colId xmlns="" xmlns:a16="http://schemas.microsoft.com/office/drawing/2014/main" val="20001"/>
                    </a:ext>
                  </a:extLst>
                </a:gridCol>
                <a:gridCol w="2297112">
                  <a:extLst>
                    <a:ext uri="{9D8B030D-6E8A-4147-A177-3AD203B41FA5}">
                      <a16:colId xmlns="" xmlns:a16="http://schemas.microsoft.com/office/drawing/2014/main" val="20002"/>
                    </a:ext>
                  </a:extLst>
                </a:gridCol>
                <a:gridCol w="2286000">
                  <a:extLst>
                    <a:ext uri="{9D8B030D-6E8A-4147-A177-3AD203B41FA5}">
                      <a16:colId xmlns="" xmlns:a16="http://schemas.microsoft.com/office/drawing/2014/main" val="20003"/>
                    </a:ext>
                  </a:extLst>
                </a:gridCol>
              </a:tblGrid>
              <a:tr h="3260725">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001011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Potpis: </a:t>
                      </a:r>
                      <a:r>
                        <a:rPr kumimoji="1" lang="en-U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001011</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a:t>
                      </a:r>
                    </a:p>
                  </a:txBody>
                  <a:tcPr marT="45702" marB="45702" horzOverflow="overflow">
                    <a:lnL cap="flat">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101011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           </a:t>
                      </a:r>
                      <a:r>
                        <a:rPr kumimoji="1" lang="en-U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101011</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(b)</a:t>
                      </a:r>
                    </a:p>
                  </a:txBody>
                  <a:tcPr marT="45702" marB="45702" horzOverflow="overflow">
                    <a:lnL>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010111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t>
                      </a:r>
                      <a:r>
                        <a:rPr kumimoji="1" lang="en-U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110101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(c)</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t>
                      </a:r>
                    </a:p>
                  </a:txBody>
                  <a:tcPr marT="45702" marB="45702" horzOverflow="overflow">
                    <a:lnL>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111111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sr-Latn-C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           </a:t>
                      </a:r>
                      <a:r>
                        <a:rPr kumimoji="1" lang="en-US" altLang="en-US" sz="16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111111</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(d)</a:t>
                      </a:r>
                      <a:endParaRPr kumimoji="1" lang="sr-Latn-C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txBody>
                  <a:tcPr marT="45702" marB="45702" horzOverflow="overflow">
                    <a:lnL>
                      <a:noFill/>
                    </a:lnL>
                    <a:lnR cap="flat">
                      <a:noFill/>
                    </a:lnR>
                    <a:lnT cap="flat">
                      <a:noFill/>
                    </a:lnT>
                    <a:lnB cap="flat">
                      <a:noFill/>
                    </a:lnB>
                    <a:lnTlToBr>
                      <a:noFill/>
                    </a:lnTlToBr>
                    <a:lnBlToTr>
                      <a:noFill/>
                    </a:lnBlToTr>
                    <a:noFill/>
                  </a:tcPr>
                </a:tc>
                <a:extLst>
                  <a:ext uri="{0D108BD9-81ED-4DB2-BD59-A6C34878D82A}">
                    <a16:rowId xmlns="" xmlns:a16="http://schemas.microsoft.com/office/drawing/2014/main" val="10000"/>
                  </a:ext>
                </a:extLst>
              </a:tr>
            </a:tbl>
          </a:graphicData>
        </a:graphic>
      </p:graphicFrame>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Primer2</a:t>
            </a:r>
          </a:p>
        </p:txBody>
      </p:sp>
      <p:sp>
        <p:nvSpPr>
          <p:cNvPr id="3" name="Content Placeholder 2"/>
          <p:cNvSpPr>
            <a:spLocks noGrp="1"/>
          </p:cNvSpPr>
          <p:nvPr>
            <p:ph idx="1"/>
          </p:nvPr>
        </p:nvSpPr>
        <p:spPr/>
        <p:txBody>
          <a:bodyPr/>
          <a:lstStyle/>
          <a:p>
            <a:pPr>
              <a:defRPr/>
            </a:pPr>
            <a:r>
              <a:rPr lang="sr-Latn-CS" dirty="0">
                <a:effectLst/>
              </a:rPr>
              <a:t>Procesi P1, P2 i P3 se konkurentno izvršavaju. Inicijalno su vrednosti svih promenljivih postavljene na nulu. Nakon okončanja procesa, koje vrednosti</a:t>
            </a:r>
            <a:r>
              <a:rPr lang="en-US" dirty="0">
                <a:effectLst/>
              </a:rPr>
              <a:t> </a:t>
            </a:r>
            <a:r>
              <a:rPr lang="en-US" dirty="0" err="1">
                <a:effectLst/>
              </a:rPr>
              <a:t>promenljivih</a:t>
            </a:r>
            <a:r>
              <a:rPr lang="en-US" dirty="0">
                <a:effectLst/>
              </a:rPr>
              <a:t> u, v i w </a:t>
            </a:r>
            <a:r>
              <a:rPr lang="en-US" dirty="0" err="1">
                <a:effectLst/>
              </a:rPr>
              <a:t>nisu</a:t>
            </a:r>
            <a:r>
              <a:rPr lang="en-US" dirty="0">
                <a:effectLst/>
              </a:rPr>
              <a:t> </a:t>
            </a:r>
            <a:r>
              <a:rPr lang="en-US" dirty="0" err="1">
                <a:effectLst/>
              </a:rPr>
              <a:t>moguće</a:t>
            </a:r>
            <a:r>
              <a:rPr lang="en-US" dirty="0">
                <a:effectLst/>
              </a:rPr>
              <a:t> pod </a:t>
            </a:r>
            <a:r>
              <a:rPr lang="en-US" dirty="0" err="1">
                <a:effectLst/>
              </a:rPr>
              <a:t>uslovima</a:t>
            </a:r>
            <a:r>
              <a:rPr lang="en-US" dirty="0">
                <a:effectLst/>
              </a:rPr>
              <a:t> </a:t>
            </a:r>
            <a:r>
              <a:rPr lang="en-US" dirty="0" err="1">
                <a:effectLst/>
              </a:rPr>
              <a:t>sekvencijalne</a:t>
            </a:r>
            <a:r>
              <a:rPr lang="en-US" dirty="0">
                <a:effectLst/>
              </a:rPr>
              <a:t> </a:t>
            </a:r>
            <a:r>
              <a:rPr lang="en-US" dirty="0" err="1">
                <a:effectLst/>
              </a:rPr>
              <a:t>konzistencije</a:t>
            </a:r>
            <a:r>
              <a:rPr lang="en-US" dirty="0">
                <a:effectLst/>
              </a:rPr>
              <a:t>?</a:t>
            </a:r>
          </a:p>
          <a:p>
            <a:pPr marL="0" indent="0">
              <a:buFont typeface="Wingdings 2" pitchFamily="18" charset="2"/>
              <a:buNone/>
              <a:defRPr/>
            </a:pPr>
            <a:r>
              <a:rPr lang="en-US" dirty="0">
                <a:effectLst/>
              </a:rPr>
              <a:t> </a:t>
            </a:r>
          </a:p>
          <a:p>
            <a:pPr marL="0" indent="0">
              <a:buFont typeface="Wingdings 2" pitchFamily="18" charset="2"/>
              <a:buNone/>
              <a:defRPr/>
            </a:pPr>
            <a:r>
              <a:rPr lang="en-US" dirty="0">
                <a:effectLst/>
              </a:rPr>
              <a:t> </a:t>
            </a:r>
          </a:p>
          <a:p>
            <a:pPr marL="400050" lvl="1" indent="0">
              <a:buFont typeface="Wingdings" pitchFamily="2" charset="2"/>
              <a:buNone/>
              <a:defRPr/>
            </a:pPr>
            <a:r>
              <a:rPr lang="fr-FR" u="sng" dirty="0">
                <a:effectLst/>
              </a:rPr>
              <a:t>P1_______P2________P3__</a:t>
            </a:r>
            <a:endParaRPr lang="en-US" dirty="0">
              <a:effectLst/>
            </a:endParaRPr>
          </a:p>
          <a:p>
            <a:pPr marL="400050" lvl="1" indent="0">
              <a:buFont typeface="Wingdings" pitchFamily="2" charset="2"/>
              <a:buNone/>
              <a:defRPr/>
            </a:pPr>
            <a:r>
              <a:rPr lang="fr-FR" dirty="0">
                <a:effectLst/>
              </a:rPr>
              <a:t>A=1        u=A            v=B</a:t>
            </a:r>
            <a:endParaRPr lang="en-US" dirty="0">
              <a:effectLst/>
            </a:endParaRPr>
          </a:p>
          <a:p>
            <a:pPr marL="400050" lvl="1" indent="0">
              <a:buFont typeface="Wingdings" pitchFamily="2" charset="2"/>
              <a:buNone/>
              <a:defRPr/>
            </a:pPr>
            <a:r>
              <a:rPr lang="fr-FR" dirty="0">
                <a:effectLst/>
              </a:rPr>
              <a:t>B=1        w=A                     </a:t>
            </a:r>
            <a:endParaRPr lang="en-US" dirty="0">
              <a:effectLst/>
            </a:endParaRPr>
          </a:p>
          <a:p>
            <a:pPr marL="0" indent="0">
              <a:buFont typeface="Wingdings 2" pitchFamily="18" charset="2"/>
              <a:buNone/>
              <a:defRPr/>
            </a:pPr>
            <a:endParaRPr lang="en-US" dirty="0"/>
          </a:p>
        </p:txBody>
      </p:sp>
    </p:spTree>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a:defRPr/>
            </a:pPr>
            <a:r>
              <a:rPr lang="sr-Latn-CS" altLang="en-US"/>
              <a:t>uslovna (kauzalna) konzistencija</a:t>
            </a:r>
            <a:endParaRPr lang="en-US" altLang="en-US"/>
          </a:p>
        </p:txBody>
      </p:sp>
      <p:sp>
        <p:nvSpPr>
          <p:cNvPr id="60419" name="Rectangle 3"/>
          <p:cNvSpPr>
            <a:spLocks noGrp="1" noChangeArrowheads="1"/>
          </p:cNvSpPr>
          <p:nvPr>
            <p:ph type="body" idx="1"/>
          </p:nvPr>
        </p:nvSpPr>
        <p:spPr>
          <a:xfrm>
            <a:off x="0" y="708025"/>
            <a:ext cx="9144000" cy="1425575"/>
          </a:xfrm>
        </p:spPr>
        <p:txBody>
          <a:bodyPr/>
          <a:lstStyle/>
          <a:p>
            <a:pPr>
              <a:lnSpc>
                <a:spcPct val="80000"/>
              </a:lnSpc>
              <a:defRPr/>
            </a:pPr>
            <a:r>
              <a:rPr lang="sr-Latn-CS" altLang="en-US" sz="2000"/>
              <a:t>Upisi (w</a:t>
            </a:r>
            <a:r>
              <a:rPr lang="en-US" altLang="en-US" sz="2000"/>
              <a:t>rite</a:t>
            </a:r>
            <a:r>
              <a:rPr lang="sr-Latn-CS" altLang="en-US" sz="2000"/>
              <a:t>) koji su potencijalno uslovljeni moraju se videti u svim procesima u istom redosledu</a:t>
            </a:r>
            <a:endParaRPr lang="en-US" altLang="en-US" sz="2000"/>
          </a:p>
          <a:p>
            <a:pPr>
              <a:lnSpc>
                <a:spcPct val="80000"/>
              </a:lnSpc>
              <a:defRPr/>
            </a:pPr>
            <a:r>
              <a:rPr lang="sr-Latn-CS" altLang="en-US" sz="2000"/>
              <a:t>Konkurentni upisi se mogu videti u različitom redosledu u različitim procesima</a:t>
            </a:r>
          </a:p>
          <a:p>
            <a:pPr>
              <a:lnSpc>
                <a:spcPct val="80000"/>
              </a:lnSpc>
              <a:defRPr/>
            </a:pPr>
            <a:endParaRPr lang="sr-Latn-CS" altLang="en-US" sz="2000"/>
          </a:p>
          <a:p>
            <a:pPr>
              <a:lnSpc>
                <a:spcPct val="80000"/>
              </a:lnSpc>
              <a:defRPr/>
            </a:pPr>
            <a:endParaRPr lang="sr-Latn-CS" altLang="en-US" sz="2000"/>
          </a:p>
          <a:p>
            <a:pPr>
              <a:lnSpc>
                <a:spcPct val="80000"/>
              </a:lnSpc>
              <a:defRPr/>
            </a:pPr>
            <a:endParaRPr lang="sr-Latn-CS" altLang="en-US" sz="2000"/>
          </a:p>
          <a:p>
            <a:pPr>
              <a:lnSpc>
                <a:spcPct val="80000"/>
              </a:lnSpc>
              <a:defRPr/>
            </a:pPr>
            <a:endParaRPr lang="sr-Latn-CS" altLang="en-US" sz="2000"/>
          </a:p>
          <a:p>
            <a:pPr>
              <a:lnSpc>
                <a:spcPct val="80000"/>
              </a:lnSpc>
              <a:buFont typeface="Wingdings 2" pitchFamily="18" charset="2"/>
              <a:buNone/>
              <a:defRPr/>
            </a:pPr>
            <a:endParaRPr lang="en-US" altLang="en-US" sz="2000"/>
          </a:p>
        </p:txBody>
      </p:sp>
      <p:pic>
        <p:nvPicPr>
          <p:cNvPr id="19460" name="Picture 4"/>
          <p:cNvPicPr>
            <a:picLocks noChangeAspect="1" noChangeArrowheads="1"/>
          </p:cNvPicPr>
          <p:nvPr/>
        </p:nvPicPr>
        <p:blipFill>
          <a:blip r:embed="rId2"/>
          <a:srcRect l="31000" t="49245" r="28648" b="42749"/>
          <a:stretch>
            <a:fillRect/>
          </a:stretch>
        </p:blipFill>
        <p:spPr bwMode="auto">
          <a:xfrm>
            <a:off x="457200" y="2133600"/>
            <a:ext cx="8262938" cy="2320925"/>
          </a:xfrm>
          <a:prstGeom prst="rect">
            <a:avLst/>
          </a:prstGeom>
          <a:noFill/>
          <a:ln w="9525">
            <a:noFill/>
            <a:miter lim="800000"/>
            <a:headEnd/>
            <a:tailEnd/>
          </a:ln>
        </p:spPr>
      </p:pic>
      <p:sp>
        <p:nvSpPr>
          <p:cNvPr id="60421" name="Text Box 5"/>
          <p:cNvSpPr txBox="1">
            <a:spLocks noChangeArrowheads="1"/>
          </p:cNvSpPr>
          <p:nvPr/>
        </p:nvSpPr>
        <p:spPr bwMode="auto">
          <a:xfrm>
            <a:off x="685800" y="4419600"/>
            <a:ext cx="8016875" cy="1465263"/>
          </a:xfrm>
          <a:prstGeom prst="rect">
            <a:avLst/>
          </a:prstGeom>
          <a:noFill/>
          <a:ln>
            <a:noFill/>
          </a:ln>
          <a:effectLst/>
        </p:spPr>
        <p:txBody>
          <a:bodyPr anchor="b">
            <a:spAutoFit/>
          </a:bodyPr>
          <a:lstStyle/>
          <a:p>
            <a:pPr>
              <a:buFontTx/>
              <a:buChar char="•"/>
              <a:defRPr/>
            </a:pPr>
            <a:r>
              <a:rPr lang="sr-Latn-CS" altLang="en-US">
                <a:effectLst>
                  <a:outerShdw blurRad="38100" dist="38100" dir="2700000" algn="tl">
                    <a:srgbClr val="C0C0C0"/>
                  </a:outerShdw>
                </a:effectLst>
                <a:latin typeface="Arial" panose="020B0604020202020204" pitchFamily="34" charset="0"/>
              </a:rPr>
              <a:t> W(x)a</a:t>
            </a:r>
            <a:r>
              <a:rPr lang="sr-Latn-CS" altLang="en-US">
                <a:effectLst>
                  <a:outerShdw blurRad="38100" dist="38100" dir="2700000" algn="tl">
                    <a:srgbClr val="C0C0C0"/>
                  </a:outerShdw>
                </a:effectLst>
                <a:latin typeface="Arial" panose="020B0604020202020204" pitchFamily="34" charset="0"/>
                <a:sym typeface="Symbol" panose="05050102010706020507" pitchFamily="18" charset="2"/>
              </a:rPr>
              <a:t>R(x)a,  R(x)a W(x)b,  W(x)a W(x)b (tj. ova dva upisa su potencijalno uslovljena</a:t>
            </a:r>
            <a:r>
              <a:rPr lang="en-US" altLang="en-US">
                <a:effectLst>
                  <a:outerShdw blurRad="38100" dist="38100" dir="2700000" algn="tl">
                    <a:srgbClr val="C0C0C0"/>
                  </a:outerShdw>
                </a:effectLst>
                <a:latin typeface="Arial" panose="020B0604020202020204" pitchFamily="34" charset="0"/>
                <a:sym typeface="Symbol" panose="05050102010706020507" pitchFamily="18" charset="2"/>
              </a:rPr>
              <a:t>)</a:t>
            </a:r>
            <a:endParaRPr lang="sr-Latn-CS" altLang="en-US">
              <a:effectLst>
                <a:outerShdw blurRad="38100" dist="38100" dir="2700000" algn="tl">
                  <a:srgbClr val="C0C0C0"/>
                </a:outerShdw>
              </a:effectLst>
              <a:latin typeface="Arial" panose="020B0604020202020204" pitchFamily="34" charset="0"/>
              <a:sym typeface="Symbol" panose="05050102010706020507" pitchFamily="18" charset="2"/>
            </a:endParaRPr>
          </a:p>
          <a:p>
            <a:pPr>
              <a:buFontTx/>
              <a:buChar char="•"/>
              <a:defRPr/>
            </a:pPr>
            <a:r>
              <a:rPr lang="sr-Latn-CS" altLang="en-US">
                <a:effectLst>
                  <a:outerShdw blurRad="38100" dist="38100" dir="2700000" algn="tl">
                    <a:srgbClr val="C0C0C0"/>
                  </a:outerShdw>
                </a:effectLst>
                <a:latin typeface="Arial" panose="020B0604020202020204" pitchFamily="34" charset="0"/>
                <a:sym typeface="Symbol" panose="05050102010706020507" pitchFamily="18" charset="2"/>
              </a:rPr>
              <a:t> W(x)c i W(x)b nisu potencijalno uslovljeni, pa rezultate ovih upisa različiti procesi mogu videti u različitom redosledu!</a:t>
            </a:r>
          </a:p>
          <a:p>
            <a:pPr>
              <a:buFontTx/>
              <a:buChar char="•"/>
              <a:defRPr/>
            </a:pPr>
            <a:r>
              <a:rPr lang="sr-Latn-CS" altLang="en-US">
                <a:effectLst>
                  <a:outerShdw blurRad="38100" dist="38100" dir="2700000" algn="tl">
                    <a:srgbClr val="C0C0C0"/>
                  </a:outerShdw>
                </a:effectLst>
                <a:latin typeface="Arial" panose="020B0604020202020204" pitchFamily="34" charset="0"/>
                <a:sym typeface="Symbol" panose="05050102010706020507" pitchFamily="18" charset="2"/>
              </a:rPr>
              <a:t> ovakvo skladište podataka je uslovno konzistentno, ali ne i sekvencijalno!</a:t>
            </a:r>
          </a:p>
        </p:txBody>
      </p:sp>
    </p:spTree>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a:defRPr/>
            </a:pPr>
            <a:r>
              <a:rPr lang="sr-Latn-CS" altLang="en-US"/>
              <a:t>uslovna konzistencija (nast.)</a:t>
            </a:r>
            <a:endParaRPr lang="en-US" altLang="en-US"/>
          </a:p>
        </p:txBody>
      </p:sp>
      <p:pic>
        <p:nvPicPr>
          <p:cNvPr id="20483" name="Picture 4"/>
          <p:cNvPicPr>
            <a:picLocks noChangeAspect="1" noChangeArrowheads="1"/>
          </p:cNvPicPr>
          <p:nvPr/>
        </p:nvPicPr>
        <p:blipFill>
          <a:blip r:embed="rId2"/>
          <a:srcRect l="19455" t="48489" r="48531" b="43655"/>
          <a:stretch>
            <a:fillRect/>
          </a:stretch>
        </p:blipFill>
        <p:spPr bwMode="auto">
          <a:xfrm>
            <a:off x="1752600" y="914400"/>
            <a:ext cx="5705475" cy="1981200"/>
          </a:xfrm>
          <a:prstGeom prst="rect">
            <a:avLst/>
          </a:prstGeom>
          <a:noFill/>
          <a:ln w="9525">
            <a:noFill/>
            <a:miter lim="800000"/>
            <a:headEnd/>
            <a:tailEnd/>
          </a:ln>
        </p:spPr>
      </p:pic>
      <p:pic>
        <p:nvPicPr>
          <p:cNvPr id="20484" name="Picture 5"/>
          <p:cNvPicPr>
            <a:picLocks noChangeAspect="1" noChangeArrowheads="1"/>
          </p:cNvPicPr>
          <p:nvPr/>
        </p:nvPicPr>
        <p:blipFill>
          <a:blip r:embed="rId2"/>
          <a:srcRect l="51950" t="48489" r="11545" b="43655"/>
          <a:stretch>
            <a:fillRect/>
          </a:stretch>
        </p:blipFill>
        <p:spPr bwMode="auto">
          <a:xfrm>
            <a:off x="1447800" y="3200400"/>
            <a:ext cx="6505575" cy="1981200"/>
          </a:xfrm>
          <a:prstGeom prst="rect">
            <a:avLst/>
          </a:prstGeom>
          <a:noFill/>
          <a:ln w="9525">
            <a:noFill/>
            <a:miter lim="800000"/>
            <a:headEnd/>
            <a:tailEnd/>
          </a:ln>
        </p:spPr>
      </p:pic>
      <p:sp>
        <p:nvSpPr>
          <p:cNvPr id="61446" name="Text Box 6"/>
          <p:cNvSpPr txBox="1">
            <a:spLocks noChangeArrowheads="1"/>
          </p:cNvSpPr>
          <p:nvPr/>
        </p:nvSpPr>
        <p:spPr bwMode="auto">
          <a:xfrm>
            <a:off x="304800" y="5135563"/>
            <a:ext cx="8686800" cy="1465262"/>
          </a:xfrm>
          <a:prstGeom prst="rect">
            <a:avLst/>
          </a:prstGeom>
          <a:noFill/>
          <a:ln>
            <a:noFill/>
          </a:ln>
          <a:effectLst/>
        </p:spPr>
        <p:txBody>
          <a:bodyPr anchor="b">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buFontTx/>
              <a:buAutoNum type="alphaLcParenR"/>
              <a:defRPr/>
            </a:pPr>
            <a:r>
              <a:rPr lang="sr-Latn-CS" altLang="en-US">
                <a:effectLst>
                  <a:outerShdw blurRad="38100" dist="38100" dir="2700000" algn="tl">
                    <a:srgbClr val="C0C0C0"/>
                  </a:outerShdw>
                </a:effectLst>
              </a:rPr>
              <a:t>nije ispoštovana uslovna konzistencija</a:t>
            </a:r>
          </a:p>
          <a:p>
            <a:pPr>
              <a:buFontTx/>
              <a:buAutoNum type="alphaLcParenR"/>
              <a:defRPr/>
            </a:pPr>
            <a:r>
              <a:rPr lang="sr-Latn-CS" altLang="en-US">
                <a:effectLst>
                  <a:outerShdw blurRad="38100" dist="38100" dir="2700000" algn="tl">
                    <a:srgbClr val="C0C0C0"/>
                  </a:outerShdw>
                </a:effectLst>
              </a:rPr>
              <a:t>ispoštovana je uslovna konzistencija jer W(x)a i W(x)b nisu medjusobno uslovljeni</a:t>
            </a:r>
          </a:p>
          <a:p>
            <a:pPr>
              <a:buFontTx/>
              <a:buChar char="•"/>
              <a:defRPr/>
            </a:pPr>
            <a:r>
              <a:rPr lang="sr-Latn-CS" altLang="en-US">
                <a:effectLst>
                  <a:outerShdw blurRad="38100" dist="38100" dir="2700000" algn="tl">
                    <a:srgbClr val="C0C0C0"/>
                  </a:outerShdw>
                </a:effectLst>
              </a:rPr>
              <a:t>da bi se implementirala uslovna konzistencija mogu se koristiti vektorski časovnici za uredjenje medjusobno zavisnih dogadjaja</a:t>
            </a:r>
            <a:endParaRPr lang="en-US" altLang="en-US">
              <a:effectLst>
                <a:outerShdw blurRad="38100" dist="38100" dir="2700000" algn="tl">
                  <a:srgbClr val="C0C0C0"/>
                </a:outerShdw>
              </a:effectLst>
            </a:endParaRPr>
          </a:p>
        </p:txBody>
      </p:sp>
      <p:grpSp>
        <p:nvGrpSpPr>
          <p:cNvPr id="2" name="Group 7"/>
          <p:cNvGrpSpPr>
            <a:grpSpLocks/>
          </p:cNvGrpSpPr>
          <p:nvPr/>
        </p:nvGrpSpPr>
        <p:grpSpPr bwMode="auto">
          <a:xfrm>
            <a:off x="2209800" y="1114425"/>
            <a:ext cx="2819400" cy="762000"/>
            <a:chOff x="822" y="929"/>
            <a:chExt cx="2043" cy="541"/>
          </a:xfrm>
        </p:grpSpPr>
        <p:sp>
          <p:nvSpPr>
            <p:cNvPr id="20491" name="Oval 8"/>
            <p:cNvSpPr>
              <a:spLocks noChangeArrowheads="1"/>
            </p:cNvSpPr>
            <p:nvPr/>
          </p:nvSpPr>
          <p:spPr bwMode="auto">
            <a:xfrm>
              <a:off x="2172" y="1112"/>
              <a:ext cx="693" cy="358"/>
            </a:xfrm>
            <a:prstGeom prst="ellipse">
              <a:avLst/>
            </a:prstGeom>
            <a:noFill/>
            <a:ln w="19050">
              <a:solidFill>
                <a:srgbClr val="009900"/>
              </a:solidFill>
              <a:round/>
              <a:headEnd/>
              <a:tailEnd/>
            </a:ln>
          </p:spPr>
          <p:txBody>
            <a:bodyPr wrap="none" anchor="ctr"/>
            <a:lstStyle/>
            <a:p>
              <a:pPr algn="ctr" eaLnBrk="1" hangingPunct="1"/>
              <a:endParaRPr lang="en-GB" altLang="en-US" sz="2400">
                <a:solidFill>
                  <a:srgbClr val="009900"/>
                </a:solidFill>
                <a:latin typeface="Times New Roman" charset="0"/>
              </a:endParaRPr>
            </a:p>
          </p:txBody>
        </p:sp>
        <p:sp>
          <p:nvSpPr>
            <p:cNvPr id="61449" name="Oval 9"/>
            <p:cNvSpPr>
              <a:spLocks noChangeArrowheads="1"/>
            </p:cNvSpPr>
            <p:nvPr/>
          </p:nvSpPr>
          <p:spPr bwMode="auto">
            <a:xfrm>
              <a:off x="822" y="929"/>
              <a:ext cx="693" cy="358"/>
            </a:xfrm>
            <a:prstGeom prst="ellipse">
              <a:avLst/>
            </a:prstGeom>
            <a:noFill/>
            <a:ln w="19050">
              <a:solidFill>
                <a:srgbClr val="009900"/>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61450" name="Line 10"/>
            <p:cNvSpPr>
              <a:spLocks noChangeShapeType="1"/>
            </p:cNvSpPr>
            <p:nvPr/>
          </p:nvSpPr>
          <p:spPr bwMode="auto">
            <a:xfrm>
              <a:off x="1533" y="1095"/>
              <a:ext cx="640" cy="109"/>
            </a:xfrm>
            <a:prstGeom prst="line">
              <a:avLst/>
            </a:prstGeom>
            <a:noFill/>
            <a:ln w="19050">
              <a:solidFill>
                <a:srgbClr val="009900"/>
              </a:solidFill>
              <a:round/>
              <a:headEnd type="triangle" w="med" len="med"/>
              <a:tailEnd type="triangle" w="med" len="med"/>
            </a:ln>
            <a:effectLst/>
          </p:spPr>
          <p:txBody>
            <a:bodyP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grpSp>
      <p:sp>
        <p:nvSpPr>
          <p:cNvPr id="61451" name="Oval 11"/>
          <p:cNvSpPr>
            <a:spLocks noChangeArrowheads="1"/>
          </p:cNvSpPr>
          <p:nvPr/>
        </p:nvSpPr>
        <p:spPr bwMode="auto">
          <a:xfrm>
            <a:off x="5014913" y="1676400"/>
            <a:ext cx="852487" cy="1001713"/>
          </a:xfrm>
          <a:prstGeom prst="ellipse">
            <a:avLst/>
          </a:prstGeom>
          <a:noFill/>
          <a:ln w="38100">
            <a:solidFill>
              <a:srgbClr val="FF3300"/>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61452" name="Oval 12"/>
          <p:cNvSpPr>
            <a:spLocks noChangeArrowheads="1"/>
          </p:cNvSpPr>
          <p:nvPr/>
        </p:nvSpPr>
        <p:spPr bwMode="auto">
          <a:xfrm>
            <a:off x="5929313" y="1676400"/>
            <a:ext cx="852487" cy="1001713"/>
          </a:xfrm>
          <a:prstGeom prst="ellipse">
            <a:avLst/>
          </a:prstGeom>
          <a:noFill/>
          <a:ln w="38100">
            <a:solidFill>
              <a:srgbClr val="FF3300"/>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61453" name="Oval 13"/>
          <p:cNvSpPr>
            <a:spLocks noChangeArrowheads="1"/>
          </p:cNvSpPr>
          <p:nvPr/>
        </p:nvSpPr>
        <p:spPr bwMode="auto">
          <a:xfrm>
            <a:off x="2252663" y="3317875"/>
            <a:ext cx="1023937" cy="492125"/>
          </a:xfrm>
          <a:prstGeom prst="ellipse">
            <a:avLst/>
          </a:prstGeom>
          <a:noFill/>
          <a:ln w="19050">
            <a:solidFill>
              <a:srgbClr val="FF9933"/>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61454" name="Oval 14"/>
          <p:cNvSpPr>
            <a:spLocks noChangeArrowheads="1"/>
          </p:cNvSpPr>
          <p:nvPr/>
        </p:nvSpPr>
        <p:spPr bwMode="auto">
          <a:xfrm>
            <a:off x="4081463" y="3698875"/>
            <a:ext cx="1023937" cy="492125"/>
          </a:xfrm>
          <a:prstGeom prst="ellipse">
            <a:avLst/>
          </a:prstGeom>
          <a:noFill/>
          <a:ln w="19050">
            <a:solidFill>
              <a:srgbClr val="FF9933"/>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Tree>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a:defRPr/>
            </a:pPr>
            <a:r>
              <a:rPr lang="sr-Latn-CS" altLang="en-US"/>
              <a:t>FIFO konzistencija</a:t>
            </a:r>
            <a:endParaRPr lang="en-US" altLang="en-US"/>
          </a:p>
        </p:txBody>
      </p:sp>
      <p:sp>
        <p:nvSpPr>
          <p:cNvPr id="63491" name="Rectangle 3"/>
          <p:cNvSpPr>
            <a:spLocks noGrp="1" noChangeArrowheads="1"/>
          </p:cNvSpPr>
          <p:nvPr>
            <p:ph type="body" idx="1"/>
          </p:nvPr>
        </p:nvSpPr>
        <p:spPr/>
        <p:txBody>
          <a:bodyPr/>
          <a:lstStyle/>
          <a:p>
            <a:pPr>
              <a:defRPr/>
            </a:pPr>
            <a:r>
              <a:rPr lang="sr-Latn-CS" altLang="en-US"/>
              <a:t>Upisi koje obavi jedan proces se vide od strane drugih procesa po redosledu u kome su izdati. </a:t>
            </a:r>
            <a:endParaRPr lang="en-US" altLang="en-US"/>
          </a:p>
          <a:p>
            <a:pPr>
              <a:defRPr/>
            </a:pPr>
            <a:r>
              <a:rPr lang="en-US" altLang="en-US"/>
              <a:t>… </a:t>
            </a:r>
            <a:r>
              <a:rPr lang="sr-Latn-CS" altLang="en-US"/>
              <a:t>ali upisi različitih procesa mogu se videti u različitom redosledu u različitim procesima. </a:t>
            </a:r>
            <a:endParaRPr lang="en-US" altLang="en-US"/>
          </a:p>
          <a:p>
            <a:pPr>
              <a:defRPr/>
            </a:pPr>
            <a:r>
              <a:rPr lang="sr-Latn-CS" altLang="en-US"/>
              <a:t>drugim rečima, ne postoje nikakve garancije o tome kako različiti procesi vide upise drugih procesa, osim što dva ili više upisa iz istog izvora moraju stići po redosledu. </a:t>
            </a:r>
            <a:endParaRPr lang="en-US" altLang="en-US"/>
          </a:p>
          <a:p>
            <a:pPr>
              <a:defRPr/>
            </a:pPr>
            <a:r>
              <a:rPr lang="sr-Latn-CS" altLang="en-US"/>
              <a:t>Jednostavna i</a:t>
            </a:r>
            <a:r>
              <a:rPr lang="en-US" altLang="en-US"/>
              <a:t>mplementa</a:t>
            </a:r>
            <a:r>
              <a:rPr lang="sr-Latn-CS" altLang="en-US"/>
              <a:t>cija</a:t>
            </a:r>
            <a:r>
              <a:rPr lang="en-US" altLang="en-US"/>
              <a:t>:</a:t>
            </a:r>
          </a:p>
          <a:p>
            <a:pPr lvl="1">
              <a:defRPr/>
            </a:pPr>
            <a:r>
              <a:rPr lang="sr-Latn-CS" altLang="en-US"/>
              <a:t>Svaki proces dodaje poruci ažuriranja </a:t>
            </a:r>
            <a:r>
              <a:rPr lang="en-US" altLang="en-US"/>
              <a:t>: (proces id, </a:t>
            </a:r>
            <a:r>
              <a:rPr lang="sr-Latn-CS" altLang="en-US"/>
              <a:t>redni broj</a:t>
            </a:r>
            <a:r>
              <a:rPr lang="en-US" altLang="en-US"/>
              <a:t>)</a:t>
            </a:r>
          </a:p>
          <a:p>
            <a:pPr lvl="1">
              <a:defRPr/>
            </a:pPr>
            <a:r>
              <a:rPr lang="sr-Latn-CS" altLang="en-US"/>
              <a:t>Svi ostali procesi primenjuju ažuriranja po redosledu u kome su ona obavljena u izvornom procesu</a:t>
            </a:r>
            <a:r>
              <a:rPr lang="en-US" altLang="en-US"/>
              <a:t>.</a:t>
            </a:r>
          </a:p>
          <a:p>
            <a:pPr>
              <a:defRPr/>
            </a:pPr>
            <a:endParaRPr lang="en-US" altLang="en-US"/>
          </a:p>
        </p:txBody>
      </p:sp>
    </p:spTree>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pPr>
              <a:defRPr/>
            </a:pPr>
            <a:r>
              <a:rPr lang="sr-Latn-CS" altLang="en-US"/>
              <a:t>FIFO konzistencija</a:t>
            </a:r>
            <a:endParaRPr lang="en-US" altLang="en-US"/>
          </a:p>
        </p:txBody>
      </p:sp>
      <p:pic>
        <p:nvPicPr>
          <p:cNvPr id="22531" name="Picture 5"/>
          <p:cNvPicPr>
            <a:picLocks noChangeAspect="1" noChangeArrowheads="1"/>
          </p:cNvPicPr>
          <p:nvPr/>
        </p:nvPicPr>
        <p:blipFill>
          <a:blip r:embed="rId3"/>
          <a:srcRect l="31854" t="47734" r="29716" b="43202"/>
          <a:stretch>
            <a:fillRect/>
          </a:stretch>
        </p:blipFill>
        <p:spPr bwMode="auto">
          <a:xfrm>
            <a:off x="0" y="762000"/>
            <a:ext cx="8262938" cy="2757488"/>
          </a:xfrm>
          <a:prstGeom prst="rect">
            <a:avLst/>
          </a:prstGeom>
          <a:noFill/>
          <a:ln w="9525">
            <a:noFill/>
            <a:miter lim="800000"/>
            <a:headEnd/>
            <a:tailEnd/>
          </a:ln>
        </p:spPr>
      </p:pic>
      <p:sp>
        <p:nvSpPr>
          <p:cNvPr id="64518" name="Text Box 6"/>
          <p:cNvSpPr txBox="1">
            <a:spLocks noChangeArrowheads="1"/>
          </p:cNvSpPr>
          <p:nvPr/>
        </p:nvSpPr>
        <p:spPr bwMode="auto">
          <a:xfrm>
            <a:off x="288925" y="3571875"/>
            <a:ext cx="8093075" cy="641350"/>
          </a:xfrm>
          <a:prstGeom prst="rect">
            <a:avLst/>
          </a:prstGeom>
          <a:noFill/>
          <a:ln>
            <a:noFill/>
          </a:ln>
          <a:effectLst/>
        </p:spPr>
        <p:txBody>
          <a:bodyPr anchor="b">
            <a:spAutoFit/>
          </a:bodyPr>
          <a:lstStyle/>
          <a:p>
            <a:pPr>
              <a:defRPr/>
            </a:pPr>
            <a:r>
              <a:rPr lang="sr-Latn-CS" altLang="en-US">
                <a:effectLst>
                  <a:outerShdw blurRad="38100" dist="38100" dir="2700000" algn="tl">
                    <a:srgbClr val="C0C0C0"/>
                  </a:outerShdw>
                </a:effectLst>
                <a:latin typeface="Arial" panose="020B0604020202020204" pitchFamily="34" charset="0"/>
              </a:rPr>
              <a:t>Ni jedan od prethodnih modela konzistencije ne dozvoljava ovakav redosled dogadjaja</a:t>
            </a:r>
            <a:endParaRPr lang="en-US" altLang="en-US">
              <a:effectLst>
                <a:outerShdw blurRad="38100" dist="38100" dir="2700000" algn="tl">
                  <a:srgbClr val="C0C0C0"/>
                </a:outerShdw>
              </a:effectLst>
              <a:latin typeface="Arial" panose="020B0604020202020204" pitchFamily="34" charset="0"/>
            </a:endParaRPr>
          </a:p>
        </p:txBody>
      </p:sp>
      <p:sp>
        <p:nvSpPr>
          <p:cNvPr id="22533" name="Oval 7"/>
          <p:cNvSpPr>
            <a:spLocks noChangeArrowheads="1"/>
          </p:cNvSpPr>
          <p:nvPr/>
        </p:nvSpPr>
        <p:spPr bwMode="auto">
          <a:xfrm>
            <a:off x="2971800" y="1804988"/>
            <a:ext cx="2360613" cy="557212"/>
          </a:xfrm>
          <a:prstGeom prst="ellipse">
            <a:avLst/>
          </a:prstGeom>
          <a:noFill/>
          <a:ln w="28575">
            <a:solidFill>
              <a:srgbClr val="FF9933"/>
            </a:solidFill>
            <a:round/>
            <a:headEnd/>
            <a:tailEnd/>
          </a:ln>
        </p:spPr>
        <p:txBody>
          <a:bodyPr wrap="none" anchor="ctr"/>
          <a:lstStyle/>
          <a:p>
            <a:pPr algn="ctr" eaLnBrk="1" hangingPunct="1"/>
            <a:endParaRPr lang="en-GB" altLang="en-US" sz="2400">
              <a:solidFill>
                <a:srgbClr val="009900"/>
              </a:solidFill>
              <a:latin typeface="Times New Roman" charset="0"/>
            </a:endParaRPr>
          </a:p>
        </p:txBody>
      </p:sp>
      <p:grpSp>
        <p:nvGrpSpPr>
          <p:cNvPr id="2" name="Group 8"/>
          <p:cNvGrpSpPr>
            <a:grpSpLocks/>
          </p:cNvGrpSpPr>
          <p:nvPr/>
        </p:nvGrpSpPr>
        <p:grpSpPr bwMode="auto">
          <a:xfrm>
            <a:off x="5257800" y="2209800"/>
            <a:ext cx="3025775" cy="944563"/>
            <a:chOff x="3566" y="1810"/>
            <a:chExt cx="1906" cy="595"/>
          </a:xfrm>
        </p:grpSpPr>
        <p:sp>
          <p:nvSpPr>
            <p:cNvPr id="22535" name="Oval 9"/>
            <p:cNvSpPr>
              <a:spLocks noChangeArrowheads="1"/>
            </p:cNvSpPr>
            <p:nvPr/>
          </p:nvSpPr>
          <p:spPr bwMode="auto">
            <a:xfrm>
              <a:off x="4164" y="2117"/>
              <a:ext cx="1308" cy="288"/>
            </a:xfrm>
            <a:prstGeom prst="ellipse">
              <a:avLst/>
            </a:prstGeom>
            <a:noFill/>
            <a:ln w="28575">
              <a:solidFill>
                <a:srgbClr val="009900"/>
              </a:solidFill>
              <a:round/>
              <a:headEnd/>
              <a:tailEnd/>
            </a:ln>
          </p:spPr>
          <p:txBody>
            <a:bodyPr wrap="none" anchor="ctr"/>
            <a:lstStyle/>
            <a:p>
              <a:pPr algn="ctr" eaLnBrk="1" hangingPunct="1"/>
              <a:endParaRPr lang="en-GB" altLang="en-US" sz="2400">
                <a:solidFill>
                  <a:srgbClr val="009900"/>
                </a:solidFill>
                <a:latin typeface="Times New Roman" charset="0"/>
              </a:endParaRPr>
            </a:p>
          </p:txBody>
        </p:sp>
        <p:sp>
          <p:nvSpPr>
            <p:cNvPr id="64522" name="Oval 10"/>
            <p:cNvSpPr>
              <a:spLocks noChangeArrowheads="1"/>
            </p:cNvSpPr>
            <p:nvPr/>
          </p:nvSpPr>
          <p:spPr bwMode="auto">
            <a:xfrm>
              <a:off x="3566" y="1837"/>
              <a:ext cx="513" cy="327"/>
            </a:xfrm>
            <a:prstGeom prst="ellipse">
              <a:avLst/>
            </a:prstGeom>
            <a:noFill/>
            <a:ln w="28575">
              <a:solidFill>
                <a:srgbClr val="009900"/>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64523" name="Oval 11"/>
            <p:cNvSpPr>
              <a:spLocks noChangeArrowheads="1"/>
            </p:cNvSpPr>
            <p:nvPr/>
          </p:nvSpPr>
          <p:spPr bwMode="auto">
            <a:xfrm>
              <a:off x="4870" y="1810"/>
              <a:ext cx="513" cy="327"/>
            </a:xfrm>
            <a:prstGeom prst="ellipse">
              <a:avLst/>
            </a:prstGeom>
            <a:noFill/>
            <a:ln w="28575">
              <a:solidFill>
                <a:srgbClr val="009900"/>
              </a:solidFill>
              <a:round/>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grpSp>
    </p:spTree>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2" name="Rectangle 6"/>
          <p:cNvSpPr>
            <a:spLocks noChangeArrowheads="1"/>
          </p:cNvSpPr>
          <p:nvPr/>
        </p:nvSpPr>
        <p:spPr bwMode="auto">
          <a:xfrm>
            <a:off x="0" y="5638800"/>
            <a:ext cx="8929688" cy="862013"/>
          </a:xfrm>
          <a:prstGeom prst="rect">
            <a:avLst/>
          </a:prstGeom>
          <a:noFill/>
          <a:ln>
            <a:noFill/>
          </a:ln>
          <a:effectLst/>
        </p:spPr>
        <p:txBody>
          <a:bodyPr/>
          <a:lstStyle>
            <a:lvl1pPr marL="342900" indent="-342900">
              <a:spcBef>
                <a:spcPct val="20000"/>
              </a:spcBef>
              <a:buClr>
                <a:schemeClr val="accent1"/>
              </a:buClr>
              <a:buSzPct val="85000"/>
              <a:buFont typeface="Wingdings 2" panose="05020102010507070707" pitchFamily="18" charset="2"/>
              <a:buChar char="ã"/>
              <a:defRPr kumimoji="1" sz="2800">
                <a:solidFill>
                  <a:schemeClr val="accent1"/>
                </a:solidFill>
                <a:effectLst>
                  <a:outerShdw blurRad="38100" dist="38100" dir="2700000" algn="tl">
                    <a:srgbClr val="C0C0C0"/>
                  </a:outerShdw>
                </a:effectLst>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effectLst>
                  <a:outerShdw blurRad="38100" dist="38100" dir="2700000" algn="tl">
                    <a:srgbClr val="C0C0C0"/>
                  </a:outerShdw>
                </a:effectLst>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effectLst>
                  <a:outerShdw blurRad="38100" dist="38100" dir="2700000" algn="tl">
                    <a:srgbClr val="C0C0C0"/>
                  </a:outerShdw>
                </a:effectLst>
                <a:latin typeface="Tahoma" panose="020B0604030504040204" pitchFamily="34" charset="0"/>
              </a:defRPr>
            </a:lvl3pPr>
            <a:lvl4pPr marL="1600200" indent="-228600">
              <a:spcBef>
                <a:spcPct val="20000"/>
              </a:spcBef>
              <a:buChar char="–"/>
              <a:defRPr kumimoji="1">
                <a:solidFill>
                  <a:schemeClr val="tx1"/>
                </a:solidFill>
                <a:effectLst>
                  <a:outerShdw blurRad="38100" dist="38100" dir="2700000" algn="tl">
                    <a:srgbClr val="C0C0C0"/>
                  </a:outerShdw>
                </a:effectLst>
                <a:latin typeface="Tahoma" panose="020B0604030504040204" pitchFamily="34" charset="0"/>
              </a:defRPr>
            </a:lvl4pPr>
            <a:lvl5pPr marL="2057400" indent="-228600">
              <a:spcBef>
                <a:spcPct val="20000"/>
              </a:spcBef>
              <a:buChar char="»"/>
              <a:defRPr kumimoji="1">
                <a:solidFill>
                  <a:schemeClr val="tx1"/>
                </a:solidFill>
                <a:effectLst>
                  <a:outerShdw blurRad="38100" dist="38100" dir="2700000" algn="tl">
                    <a:srgbClr val="C0C0C0"/>
                  </a:outerShdw>
                </a:effectLst>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9pPr>
          </a:lstStyle>
          <a:p>
            <a:pPr>
              <a:lnSpc>
                <a:spcPct val="90000"/>
              </a:lnSpc>
              <a:defRPr/>
            </a:pPr>
            <a:r>
              <a:rPr lang="sr-Latn-CS" altLang="en-US" sz="1800"/>
              <a:t>naredbe označene masnim slovima generišu prikazane izlaze.</a:t>
            </a:r>
          </a:p>
          <a:p>
            <a:pPr lvl="1">
              <a:lnSpc>
                <a:spcPct val="90000"/>
              </a:lnSpc>
              <a:defRPr/>
            </a:pPr>
            <a:r>
              <a:rPr lang="sr-Latn-CS" altLang="en-US" sz="1600"/>
              <a:t> Konkatenacijom izlaza dobija se vrednost </a:t>
            </a:r>
            <a:r>
              <a:rPr lang="en-US" altLang="en-US" sz="1600"/>
              <a:t>001001</a:t>
            </a:r>
            <a:r>
              <a:rPr lang="sr-Latn-CS" altLang="en-US" sz="1600"/>
              <a:t>, koja nije dozvoljena u slučaju striktne konzistencije.  </a:t>
            </a:r>
            <a:endParaRPr lang="en-US" altLang="en-US" sz="1600"/>
          </a:p>
        </p:txBody>
      </p:sp>
      <p:graphicFrame>
        <p:nvGraphicFramePr>
          <p:cNvPr id="75824" name="Group 48"/>
          <p:cNvGraphicFramePr>
            <a:graphicFrameLocks noGrp="1"/>
          </p:cNvGraphicFramePr>
          <p:nvPr/>
        </p:nvGraphicFramePr>
        <p:xfrm>
          <a:off x="1208088" y="2376488"/>
          <a:ext cx="6429375" cy="2776537"/>
        </p:xfrm>
        <a:graphic>
          <a:graphicData uri="http://schemas.openxmlformats.org/drawingml/2006/table">
            <a:tbl>
              <a:tblPr/>
              <a:tblGrid>
                <a:gridCol w="2143125">
                  <a:extLst>
                    <a:ext uri="{9D8B030D-6E8A-4147-A177-3AD203B41FA5}">
                      <a16:colId xmlns="" xmlns:a16="http://schemas.microsoft.com/office/drawing/2014/main" val="20000"/>
                    </a:ext>
                  </a:extLst>
                </a:gridCol>
                <a:gridCol w="2060575">
                  <a:extLst>
                    <a:ext uri="{9D8B030D-6E8A-4147-A177-3AD203B41FA5}">
                      <a16:colId xmlns="" xmlns:a16="http://schemas.microsoft.com/office/drawing/2014/main" val="20001"/>
                    </a:ext>
                  </a:extLst>
                </a:gridCol>
                <a:gridCol w="2225675">
                  <a:extLst>
                    <a:ext uri="{9D8B030D-6E8A-4147-A177-3AD203B41FA5}">
                      <a16:colId xmlns="" xmlns:a16="http://schemas.microsoft.com/office/drawing/2014/main" val="20002"/>
                    </a:ext>
                  </a:extLst>
                </a:gridCol>
              </a:tblGrid>
              <a:tr h="2776537">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00</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(a)</a:t>
                      </a:r>
                      <a:endParaRPr kumimoji="1" lang="en-US" altLang="en-US" sz="14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txBody>
                  <a:tcPr horzOverflow="overflow">
                    <a:lnL cap="flat">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10</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(b)</a:t>
                      </a:r>
                    </a:p>
                  </a:txBody>
                  <a:tcPr horzOverflow="overflow">
                    <a:lnL>
                      <a:noFill/>
                    </a:lnL>
                    <a:lnR>
                      <a:noFill/>
                    </a:lnR>
                    <a:lnT cap="flat">
                      <a:noFill/>
                    </a:lnT>
                    <a:lnB cap="flat">
                      <a:noFill/>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z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(x, y);</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 (y, z);</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Prints:  01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0"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rPr>
                        <a:t>     (c)</a:t>
                      </a:r>
                    </a:p>
                  </a:txBody>
                  <a:tcPr horzOverflow="overflow">
                    <a:lnL>
                      <a:noFill/>
                    </a:lnL>
                    <a:lnR cap="flat">
                      <a:noFill/>
                    </a:lnR>
                    <a:lnT cap="flat">
                      <a:noFill/>
                    </a:lnT>
                    <a:lnB cap="flat">
                      <a:noFill/>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75795" name="Group 19"/>
          <p:cNvGraphicFramePr>
            <a:graphicFrameLocks noGrp="1"/>
          </p:cNvGraphicFramePr>
          <p:nvPr/>
        </p:nvGraphicFramePr>
        <p:xfrm>
          <a:off x="436563" y="992188"/>
          <a:ext cx="7947025" cy="1204912"/>
        </p:xfrm>
        <a:graphic>
          <a:graphicData uri="http://schemas.openxmlformats.org/drawingml/2006/table">
            <a:tbl>
              <a:tblPr/>
              <a:tblGrid>
                <a:gridCol w="2649537">
                  <a:extLst>
                    <a:ext uri="{9D8B030D-6E8A-4147-A177-3AD203B41FA5}">
                      <a16:colId xmlns="" xmlns:a16="http://schemas.microsoft.com/office/drawing/2014/main" val="20000"/>
                    </a:ext>
                  </a:extLst>
                </a:gridCol>
                <a:gridCol w="2647950">
                  <a:extLst>
                    <a:ext uri="{9D8B030D-6E8A-4147-A177-3AD203B41FA5}">
                      <a16:colId xmlns="" xmlns:a16="http://schemas.microsoft.com/office/drawing/2014/main" val="20001"/>
                    </a:ext>
                  </a:extLst>
                </a:gridCol>
                <a:gridCol w="2649538">
                  <a:extLst>
                    <a:ext uri="{9D8B030D-6E8A-4147-A177-3AD203B41FA5}">
                      <a16:colId xmlns="" xmlns:a16="http://schemas.microsoft.com/office/drawing/2014/main" val="20002"/>
                    </a:ext>
                  </a:extLst>
                </a:gridCol>
              </a:tblGrid>
              <a:tr h="484188">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accent1"/>
                          </a:solidFill>
                          <a:effectLst>
                            <a:outerShdw blurRad="38100" dist="38100" dir="2700000" algn="tl">
                              <a:srgbClr val="C0C0C0"/>
                            </a:outerShdw>
                          </a:effectLst>
                          <a:latin typeface="Arial Unicode MS" pitchFamily="34" charset="-128"/>
                        </a:rPr>
                        <a:t>Process P1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accent1"/>
                          </a:solidFill>
                          <a:effectLst>
                            <a:outerShdw blurRad="38100" dist="38100" dir="2700000" algn="tl">
                              <a:srgbClr val="C0C0C0"/>
                            </a:outerShdw>
                          </a:effectLst>
                          <a:latin typeface="Arial Unicode MS" pitchFamily="34" charset="-128"/>
                        </a:rPr>
                        <a:t>Process P2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accent1"/>
                          </a:solidFill>
                          <a:effectLst>
                            <a:outerShdw blurRad="38100" dist="38100" dir="2700000" algn="tl">
                              <a:srgbClr val="C0C0C0"/>
                            </a:outerShdw>
                          </a:effectLst>
                          <a:latin typeface="Arial Unicode MS" pitchFamily="34" charset="-128"/>
                        </a:rPr>
                        <a:t>Process P3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720724">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rgbClr val="FF00FF"/>
                          </a:solidFill>
                          <a:effectLst>
                            <a:outerShdw blurRad="38100" dist="38100" dir="2700000" algn="tl">
                              <a:srgbClr val="C0C0C0"/>
                            </a:outerShdw>
                          </a:effectLst>
                          <a:latin typeface="Arial Unicode MS" pitchFamily="34" charset="-128"/>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rgbClr val="FF00FF"/>
                          </a:solidFill>
                          <a:effectLst>
                            <a:outerShdw blurRad="38100" dist="38100" dir="2700000" algn="tl">
                              <a:srgbClr val="C0C0C0"/>
                            </a:outerShdw>
                          </a:effectLst>
                          <a:latin typeface="Arial Unicode MS" pitchFamily="34" charset="-128"/>
                        </a:rPr>
                        <a:t>print ( y, z);</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accent2"/>
                          </a:solidFill>
                          <a:effectLst>
                            <a:outerShdw blurRad="38100" dist="38100" dir="2700000" algn="tl">
                              <a:srgbClr val="C0C0C0"/>
                            </a:outerShdw>
                          </a:effectLst>
                          <a:latin typeface="Arial Unicode MS" pitchFamily="34" charset="-128"/>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chemeClr val="accent2"/>
                          </a:solidFill>
                          <a:effectLst>
                            <a:outerShdw blurRad="38100" dist="38100" dir="2700000" algn="tl">
                              <a:srgbClr val="C0C0C0"/>
                            </a:outerShdw>
                          </a:effectLst>
                          <a:latin typeface="Arial Unicode MS" pitchFamily="34" charset="-128"/>
                        </a:rPr>
                        <a:t>print (x, 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rgbClr val="3333FF"/>
                          </a:solidFill>
                          <a:effectLst>
                            <a:outerShdw blurRad="38100" dist="38100" dir="2700000" algn="tl">
                              <a:srgbClr val="C0C0C0"/>
                            </a:outerShdw>
                          </a:effectLst>
                          <a:latin typeface="Arial Unicode MS" pitchFamily="34" charset="-128"/>
                        </a:rPr>
                        <a:t>z = 1;</a:t>
                      </a:r>
                      <a:r>
                        <a:rPr kumimoji="1" lang="it-IT" altLang="en-US" sz="1400" b="1" i="0" u="none" strike="noStrike" cap="none" normalizeH="0" baseline="0">
                          <a:ln>
                            <a:noFill/>
                          </a:ln>
                          <a:solidFill>
                            <a:srgbClr val="3333FF"/>
                          </a:solidFill>
                          <a:effectLst>
                            <a:outerShdw blurRad="38100" dist="38100" dir="2700000" algn="tl">
                              <a:srgbClr val="C0C0C0"/>
                            </a:outerShdw>
                          </a:effectLst>
                          <a:latin typeface="Arial Unicode MS" pitchFamily="34" charset="-128"/>
                        </a:rPr>
                        <a:t>                     </a:t>
                      </a:r>
                      <a:r>
                        <a:rPr kumimoji="1" lang="en-US" altLang="en-US" sz="1400" b="1" i="0" u="none" strike="noStrike" cap="none" normalizeH="0" baseline="0">
                          <a:ln>
                            <a:noFill/>
                          </a:ln>
                          <a:solidFill>
                            <a:srgbClr val="3333FF"/>
                          </a:solidFill>
                          <a:effectLst>
                            <a:outerShdw blurRad="38100" dist="38100" dir="2700000" algn="tl">
                              <a:srgbClr val="C0C0C0"/>
                            </a:outerShdw>
                          </a:effectLst>
                          <a:latin typeface="Arial Unicode MS" pitchFamily="34" charset="-128"/>
                        </a:rPr>
                        <a:t>write</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400" b="1" i="0" u="none" strike="noStrike" cap="none" normalizeH="0" baseline="0">
                          <a:ln>
                            <a:noFill/>
                          </a:ln>
                          <a:solidFill>
                            <a:srgbClr val="3333FF"/>
                          </a:solidFill>
                          <a:effectLst>
                            <a:outerShdw blurRad="38100" dist="38100" dir="2700000" algn="tl">
                              <a:srgbClr val="C0C0C0"/>
                            </a:outerShdw>
                          </a:effectLst>
                          <a:latin typeface="Arial Unicode MS" pitchFamily="34" charset="-128"/>
                        </a:rPr>
                        <a:t>print (x, y);             read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sp>
        <p:nvSpPr>
          <p:cNvPr id="23573" name="Rectangle 33"/>
          <p:cNvSpPr>
            <a:spLocks noChangeArrowheads="1"/>
          </p:cNvSpPr>
          <p:nvPr/>
        </p:nvSpPr>
        <p:spPr bwMode="auto">
          <a:xfrm>
            <a:off x="1136650" y="2422525"/>
            <a:ext cx="1185863" cy="473075"/>
          </a:xfrm>
          <a:prstGeom prst="rect">
            <a:avLst/>
          </a:prstGeom>
          <a:noFill/>
          <a:ln w="28575">
            <a:solidFill>
              <a:srgbClr val="FF33CC"/>
            </a:solidFill>
            <a:miter lim="800000"/>
            <a:headEnd/>
            <a:tailEnd/>
          </a:ln>
        </p:spPr>
        <p:txBody>
          <a:bodyPr wrap="none" anchor="ctr"/>
          <a:lstStyle/>
          <a:p>
            <a:pPr algn="ctr" eaLnBrk="1" hangingPunct="1"/>
            <a:endParaRPr lang="en-GB" altLang="en-US" sz="2400">
              <a:solidFill>
                <a:srgbClr val="FF33CC"/>
              </a:solidFill>
              <a:latin typeface="Times New Roman" charset="0"/>
            </a:endParaRPr>
          </a:p>
        </p:txBody>
      </p:sp>
      <p:sp>
        <p:nvSpPr>
          <p:cNvPr id="75810" name="Rectangle 34"/>
          <p:cNvSpPr>
            <a:spLocks noChangeArrowheads="1"/>
          </p:cNvSpPr>
          <p:nvPr/>
        </p:nvSpPr>
        <p:spPr bwMode="auto">
          <a:xfrm>
            <a:off x="1155700" y="2895600"/>
            <a:ext cx="1185863" cy="533400"/>
          </a:xfrm>
          <a:prstGeom prst="rect">
            <a:avLst/>
          </a:prstGeom>
          <a:noFill/>
          <a:ln w="28575">
            <a:solidFill>
              <a:srgbClr val="009900"/>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1" name="Rectangle 35"/>
          <p:cNvSpPr>
            <a:spLocks noChangeArrowheads="1"/>
          </p:cNvSpPr>
          <p:nvPr/>
        </p:nvSpPr>
        <p:spPr bwMode="auto">
          <a:xfrm>
            <a:off x="1147763" y="3429000"/>
            <a:ext cx="1185862" cy="568325"/>
          </a:xfrm>
          <a:prstGeom prst="rect">
            <a:avLst/>
          </a:prstGeom>
          <a:noFill/>
          <a:ln w="28575">
            <a:solidFill>
              <a:srgbClr val="3333FF"/>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2" name="Rectangle 36"/>
          <p:cNvSpPr>
            <a:spLocks noChangeArrowheads="1"/>
          </p:cNvSpPr>
          <p:nvPr/>
        </p:nvSpPr>
        <p:spPr bwMode="auto">
          <a:xfrm>
            <a:off x="3386138" y="2433638"/>
            <a:ext cx="604837" cy="260350"/>
          </a:xfrm>
          <a:prstGeom prst="rect">
            <a:avLst/>
          </a:prstGeom>
          <a:noFill/>
          <a:ln w="28575">
            <a:solidFill>
              <a:srgbClr val="FF33CC"/>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3" name="Rectangle 37"/>
          <p:cNvSpPr>
            <a:spLocks noChangeArrowheads="1"/>
          </p:cNvSpPr>
          <p:nvPr/>
        </p:nvSpPr>
        <p:spPr bwMode="auto">
          <a:xfrm>
            <a:off x="3379788" y="2667000"/>
            <a:ext cx="604837" cy="260350"/>
          </a:xfrm>
          <a:prstGeom prst="rect">
            <a:avLst/>
          </a:prstGeom>
          <a:noFill/>
          <a:ln w="28575">
            <a:solidFill>
              <a:srgbClr val="009900"/>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4" name="Rectangle 38"/>
          <p:cNvSpPr>
            <a:spLocks noChangeArrowheads="1"/>
          </p:cNvSpPr>
          <p:nvPr/>
        </p:nvSpPr>
        <p:spPr bwMode="auto">
          <a:xfrm>
            <a:off x="3373438" y="3429000"/>
            <a:ext cx="604837" cy="260350"/>
          </a:xfrm>
          <a:prstGeom prst="rect">
            <a:avLst/>
          </a:prstGeom>
          <a:noFill/>
          <a:ln w="28575">
            <a:solidFill>
              <a:srgbClr val="3333FF"/>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5" name="Rectangle 39"/>
          <p:cNvSpPr>
            <a:spLocks noChangeArrowheads="1"/>
          </p:cNvSpPr>
          <p:nvPr/>
        </p:nvSpPr>
        <p:spPr bwMode="auto">
          <a:xfrm>
            <a:off x="5430838" y="2451100"/>
            <a:ext cx="604837" cy="260350"/>
          </a:xfrm>
          <a:prstGeom prst="rect">
            <a:avLst/>
          </a:prstGeom>
          <a:noFill/>
          <a:ln w="28575">
            <a:solidFill>
              <a:srgbClr val="009900"/>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6" name="Rectangle 40"/>
          <p:cNvSpPr>
            <a:spLocks noChangeArrowheads="1"/>
          </p:cNvSpPr>
          <p:nvPr/>
        </p:nvSpPr>
        <p:spPr bwMode="auto">
          <a:xfrm>
            <a:off x="5422900" y="2971800"/>
            <a:ext cx="604838" cy="260350"/>
          </a:xfrm>
          <a:prstGeom prst="rect">
            <a:avLst/>
          </a:prstGeom>
          <a:noFill/>
          <a:ln w="28575">
            <a:solidFill>
              <a:srgbClr val="3333FF"/>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7" name="Rectangle 41"/>
          <p:cNvSpPr>
            <a:spLocks noChangeArrowheads="1"/>
          </p:cNvSpPr>
          <p:nvPr/>
        </p:nvSpPr>
        <p:spPr bwMode="auto">
          <a:xfrm>
            <a:off x="5441950" y="3429000"/>
            <a:ext cx="604838" cy="260350"/>
          </a:xfrm>
          <a:prstGeom prst="rect">
            <a:avLst/>
          </a:prstGeom>
          <a:noFill/>
          <a:ln w="28575">
            <a:solidFill>
              <a:srgbClr val="FF33CC"/>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8" name="Rectangle 42"/>
          <p:cNvSpPr>
            <a:spLocks noChangeArrowheads="1"/>
          </p:cNvSpPr>
          <p:nvPr/>
        </p:nvSpPr>
        <p:spPr bwMode="auto">
          <a:xfrm>
            <a:off x="3349625" y="2971800"/>
            <a:ext cx="1074738" cy="234950"/>
          </a:xfrm>
          <a:prstGeom prst="rect">
            <a:avLst/>
          </a:prstGeom>
          <a:noFill/>
          <a:ln w="28575">
            <a:solidFill>
              <a:srgbClr val="009900"/>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19" name="Rectangle 43"/>
          <p:cNvSpPr>
            <a:spLocks noChangeArrowheads="1"/>
          </p:cNvSpPr>
          <p:nvPr/>
        </p:nvSpPr>
        <p:spPr bwMode="auto">
          <a:xfrm>
            <a:off x="3368675" y="3200400"/>
            <a:ext cx="1074738" cy="234950"/>
          </a:xfrm>
          <a:prstGeom prst="rect">
            <a:avLst/>
          </a:prstGeom>
          <a:noFill/>
          <a:ln w="28575">
            <a:solidFill>
              <a:srgbClr val="FF33CC"/>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20" name="Rectangle 44"/>
          <p:cNvSpPr>
            <a:spLocks noChangeArrowheads="1"/>
          </p:cNvSpPr>
          <p:nvPr/>
        </p:nvSpPr>
        <p:spPr bwMode="auto">
          <a:xfrm>
            <a:off x="3360738" y="3727450"/>
            <a:ext cx="1074737" cy="234950"/>
          </a:xfrm>
          <a:prstGeom prst="rect">
            <a:avLst/>
          </a:prstGeom>
          <a:noFill/>
          <a:ln w="28575">
            <a:solidFill>
              <a:srgbClr val="3333FF"/>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21" name="Rectangle 45"/>
          <p:cNvSpPr>
            <a:spLocks noChangeArrowheads="1"/>
          </p:cNvSpPr>
          <p:nvPr/>
        </p:nvSpPr>
        <p:spPr bwMode="auto">
          <a:xfrm>
            <a:off x="5419725" y="2736850"/>
            <a:ext cx="1074738" cy="234950"/>
          </a:xfrm>
          <a:prstGeom prst="rect">
            <a:avLst/>
          </a:prstGeom>
          <a:noFill/>
          <a:ln w="28575">
            <a:solidFill>
              <a:srgbClr val="009900"/>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75822" name="Rectangle 46"/>
          <p:cNvSpPr>
            <a:spLocks noChangeArrowheads="1"/>
          </p:cNvSpPr>
          <p:nvPr/>
        </p:nvSpPr>
        <p:spPr bwMode="auto">
          <a:xfrm>
            <a:off x="5424488" y="3200400"/>
            <a:ext cx="1074737" cy="234950"/>
          </a:xfrm>
          <a:prstGeom prst="rect">
            <a:avLst/>
          </a:prstGeom>
          <a:noFill/>
          <a:ln w="28575">
            <a:solidFill>
              <a:srgbClr val="3333FF"/>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latin typeface="Arial" panose="020B0604020202020204" pitchFamily="34" charset="0"/>
            </a:endParaRPr>
          </a:p>
        </p:txBody>
      </p:sp>
      <p:sp>
        <p:nvSpPr>
          <p:cNvPr id="23587" name="Rectangle 47"/>
          <p:cNvSpPr>
            <a:spLocks noChangeArrowheads="1"/>
          </p:cNvSpPr>
          <p:nvPr/>
        </p:nvSpPr>
        <p:spPr bwMode="auto">
          <a:xfrm>
            <a:off x="5441950" y="3733800"/>
            <a:ext cx="1074738" cy="234950"/>
          </a:xfrm>
          <a:prstGeom prst="rect">
            <a:avLst/>
          </a:prstGeom>
          <a:noFill/>
          <a:ln w="28575">
            <a:solidFill>
              <a:srgbClr val="FF33CC"/>
            </a:solidFill>
            <a:miter lim="800000"/>
            <a:headEnd/>
            <a:tailEnd/>
          </a:ln>
        </p:spPr>
        <p:txBody>
          <a:bodyPr wrap="none" anchor="ctr"/>
          <a:lstStyle/>
          <a:p>
            <a:pPr algn="ctr" eaLnBrk="1" hangingPunct="1"/>
            <a:endParaRPr lang="en-GB" altLang="en-US" sz="2400">
              <a:solidFill>
                <a:srgbClr val="FF9900"/>
              </a:solidFill>
              <a:latin typeface="Times New Roman" charset="0"/>
            </a:endParaRPr>
          </a:p>
        </p:txBody>
      </p:sp>
      <p:sp>
        <p:nvSpPr>
          <p:cNvPr id="75827" name="Rectangle 51"/>
          <p:cNvSpPr>
            <a:spLocks noGrp="1" noChangeArrowheads="1"/>
          </p:cNvSpPr>
          <p:nvPr>
            <p:ph type="title"/>
          </p:nvPr>
        </p:nvSpPr>
        <p:spPr/>
        <p:txBody>
          <a:bodyPr/>
          <a:lstStyle/>
          <a:p>
            <a:pPr>
              <a:defRPr/>
            </a:pPr>
            <a:r>
              <a:rPr lang="sr-Latn-CS" altLang="en-US"/>
              <a:t>FIFO konzistencija</a:t>
            </a:r>
            <a:endParaRPr lang="en-US" altLang="en-US"/>
          </a:p>
        </p:txBody>
      </p:sp>
    </p:spTree>
  </p:cSld>
  <p:clrMapOvr>
    <a:masterClrMapping/>
  </p:clrMapOvr>
  <p:transition>
    <p:pull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5" name="Group 5"/>
          <p:cNvGraphicFramePr>
            <a:graphicFrameLocks noGrp="1"/>
          </p:cNvGraphicFramePr>
          <p:nvPr/>
        </p:nvGraphicFramePr>
        <p:xfrm>
          <a:off x="990600" y="2895600"/>
          <a:ext cx="6096000" cy="1060624"/>
        </p:xfrm>
        <a:graphic>
          <a:graphicData uri="http://schemas.openxmlformats.org/drawingml/2006/table">
            <a:tbl>
              <a:tblPr/>
              <a:tblGrid>
                <a:gridCol w="3048000">
                  <a:extLst>
                    <a:ext uri="{9D8B030D-6E8A-4147-A177-3AD203B41FA5}">
                      <a16:colId xmlns="" xmlns:a16="http://schemas.microsoft.com/office/drawing/2014/main" val="20000"/>
                    </a:ext>
                  </a:extLst>
                </a:gridCol>
                <a:gridCol w="3048000">
                  <a:extLst>
                    <a:ext uri="{9D8B030D-6E8A-4147-A177-3AD203B41FA5}">
                      <a16:colId xmlns="" xmlns:a16="http://schemas.microsoft.com/office/drawing/2014/main" val="20001"/>
                    </a:ext>
                  </a:extLst>
                </a:gridCol>
              </a:tblGrid>
              <a:tr h="365666">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800" b="1"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Process P1</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800" b="1"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Process P2</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94784">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8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x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8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if (y == 0) kill (P2);</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anose="05020102010507070707" pitchFamily="18" charset="2"/>
                        <a:defRPr kumimoji="1" sz="2400">
                          <a:solidFill>
                            <a:schemeClr val="accent1"/>
                          </a:solidFill>
                          <a:effectLst>
                            <a:outerShdw blurRad="38100" dist="38100" dir="2700000" algn="tl">
                              <a:srgbClr val="C0C0C0"/>
                            </a:outerShdw>
                          </a:effectLst>
                          <a:latin typeface="Tahoma" panose="020B0604030504040204" pitchFamily="34" charset="0"/>
                        </a:defRPr>
                      </a:lvl1pPr>
                      <a:lvl2pPr>
                        <a:spcBef>
                          <a:spcPct val="20000"/>
                        </a:spcBef>
                        <a:buClr>
                          <a:schemeClr val="hlink"/>
                        </a:buClr>
                        <a:buSzPct val="85000"/>
                        <a:buFont typeface="Wingdings" panose="05000000000000000000" pitchFamily="2" charset="2"/>
                        <a:defRPr kumimoji="1" sz="2100">
                          <a:solidFill>
                            <a:schemeClr val="hlink"/>
                          </a:solidFill>
                          <a:effectLst>
                            <a:outerShdw blurRad="38100" dist="38100" dir="2700000" algn="tl">
                              <a:srgbClr val="C0C0C0"/>
                            </a:outerShdw>
                          </a:effectLst>
                          <a:latin typeface="Tahoma" panose="020B0604030504040204" pitchFamily="34" charset="0"/>
                        </a:defRPr>
                      </a:lvl2pPr>
                      <a:lvl3pPr>
                        <a:spcBef>
                          <a:spcPct val="20000"/>
                        </a:spcBef>
                        <a:buClr>
                          <a:schemeClr val="tx1"/>
                        </a:buClr>
                        <a:buFont typeface="Wingdings" panose="05000000000000000000" pitchFamily="2" charset="2"/>
                        <a:defRPr kumimoji="1">
                          <a:solidFill>
                            <a:schemeClr val="tx1"/>
                          </a:solidFill>
                          <a:effectLst>
                            <a:outerShdw blurRad="38100" dist="38100" dir="2700000" algn="tl">
                              <a:srgbClr val="C0C0C0"/>
                            </a:outerShdw>
                          </a:effectLst>
                          <a:latin typeface="Tahoma" panose="020B0604030504040204" pitchFamily="34" charset="0"/>
                        </a:defRPr>
                      </a:lvl3pPr>
                      <a:lvl4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4pPr>
                      <a:lvl5pPr>
                        <a:spcBef>
                          <a:spcPct val="20000"/>
                        </a:spcBef>
                        <a:defRPr kumimoji="1" sz="1600">
                          <a:solidFill>
                            <a:schemeClr val="tx1"/>
                          </a:solidFill>
                          <a:effectLst>
                            <a:outerShdw blurRad="38100" dist="38100" dir="2700000" algn="tl">
                              <a:srgbClr val="C0C0C0"/>
                            </a:outerShdw>
                          </a:effectLst>
                          <a:latin typeface="Tahoma" panose="020B0604030504040204"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8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y = 1;</a:t>
                      </a:r>
                    </a:p>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None/>
                        <a:tabLst/>
                      </a:pPr>
                      <a:r>
                        <a:rPr kumimoji="1" lang="en-US" altLang="en-US" sz="1800" b="0" i="0" u="none" strike="noStrike" cap="none" normalizeH="0" baseline="0">
                          <a:ln>
                            <a:noFill/>
                          </a:ln>
                          <a:solidFill>
                            <a:schemeClr val="accent1"/>
                          </a:solidFill>
                          <a:effectLst>
                            <a:outerShdw blurRad="38100" dist="38100" dir="2700000" algn="tl">
                              <a:srgbClr val="C0C0C0"/>
                            </a:outerShdw>
                          </a:effectLst>
                          <a:latin typeface="Arial" panose="020B0604020202020204" pitchFamily="34" charset="0"/>
                        </a:rPr>
                        <a:t>if (x == 0) kill (P1);</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sp>
        <p:nvSpPr>
          <p:cNvPr id="66576" name="Rectangle 16"/>
          <p:cNvSpPr>
            <a:spLocks noChangeArrowheads="1"/>
          </p:cNvSpPr>
          <p:nvPr/>
        </p:nvSpPr>
        <p:spPr bwMode="auto">
          <a:xfrm>
            <a:off x="457200" y="1295400"/>
            <a:ext cx="8229600" cy="1447800"/>
          </a:xfrm>
          <a:prstGeom prst="rect">
            <a:avLst/>
          </a:prstGeom>
          <a:noFill/>
          <a:ln>
            <a:noFill/>
          </a:ln>
          <a:effectLst/>
        </p:spPr>
        <p:txBody>
          <a:bodyPr/>
          <a:lstStyle>
            <a:lvl1pPr marL="342900" indent="-342900">
              <a:spcBef>
                <a:spcPct val="20000"/>
              </a:spcBef>
              <a:buClr>
                <a:schemeClr val="accent1"/>
              </a:buClr>
              <a:buSzPct val="85000"/>
              <a:buFont typeface="Wingdings 2" panose="05020102010507070707" pitchFamily="18" charset="2"/>
              <a:buChar char="ã"/>
              <a:defRPr kumimoji="1" sz="2800">
                <a:solidFill>
                  <a:schemeClr val="accent1"/>
                </a:solidFill>
                <a:effectLst>
                  <a:outerShdw blurRad="38100" dist="38100" dir="2700000" algn="tl">
                    <a:srgbClr val="C0C0C0"/>
                  </a:outerShdw>
                </a:effectLst>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effectLst>
                  <a:outerShdw blurRad="38100" dist="38100" dir="2700000" algn="tl">
                    <a:srgbClr val="C0C0C0"/>
                  </a:outerShdw>
                </a:effectLst>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effectLst>
                  <a:outerShdw blurRad="38100" dist="38100" dir="2700000" algn="tl">
                    <a:srgbClr val="C0C0C0"/>
                  </a:outerShdw>
                </a:effectLst>
                <a:latin typeface="Tahoma" panose="020B0604030504040204" pitchFamily="34" charset="0"/>
              </a:defRPr>
            </a:lvl3pPr>
            <a:lvl4pPr marL="1600200" indent="-228600">
              <a:spcBef>
                <a:spcPct val="20000"/>
              </a:spcBef>
              <a:buChar char="–"/>
              <a:defRPr kumimoji="1">
                <a:solidFill>
                  <a:schemeClr val="tx1"/>
                </a:solidFill>
                <a:effectLst>
                  <a:outerShdw blurRad="38100" dist="38100" dir="2700000" algn="tl">
                    <a:srgbClr val="C0C0C0"/>
                  </a:outerShdw>
                </a:effectLst>
                <a:latin typeface="Tahoma" panose="020B0604030504040204" pitchFamily="34" charset="0"/>
              </a:defRPr>
            </a:lvl4pPr>
            <a:lvl5pPr marL="2057400" indent="-228600">
              <a:spcBef>
                <a:spcPct val="20000"/>
              </a:spcBef>
              <a:buChar char="»"/>
              <a:defRPr kumimoji="1">
                <a:solidFill>
                  <a:schemeClr val="tx1"/>
                </a:solidFill>
                <a:effectLst>
                  <a:outerShdw blurRad="38100" dist="38100" dir="2700000" algn="tl">
                    <a:srgbClr val="C0C0C0"/>
                  </a:outerShdw>
                </a:effectLst>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anose="020B0604030504040204" pitchFamily="34" charset="0"/>
              </a:defRPr>
            </a:lvl9pPr>
          </a:lstStyle>
          <a:p>
            <a:pPr>
              <a:lnSpc>
                <a:spcPct val="90000"/>
              </a:lnSpc>
              <a:defRPr/>
            </a:pPr>
            <a:r>
              <a:rPr lang="sr-Latn-CS" altLang="en-US" sz="2400"/>
              <a:t>U oba slučaja redosled izvršenja nije determinisan</a:t>
            </a:r>
            <a:endParaRPr lang="en-US" altLang="en-US" sz="2400"/>
          </a:p>
          <a:p>
            <a:pPr>
              <a:lnSpc>
                <a:spcPct val="90000"/>
              </a:lnSpc>
              <a:defRPr/>
            </a:pPr>
            <a:r>
              <a:rPr lang="en-US" altLang="en-US" sz="2400"/>
              <a:t>Se</a:t>
            </a:r>
            <a:r>
              <a:rPr lang="sr-Latn-CS" altLang="en-US" sz="2400"/>
              <a:t>kvencijalna: procesi na isti način vide dogadjaje</a:t>
            </a:r>
            <a:endParaRPr lang="en-US" altLang="en-US" sz="2400"/>
          </a:p>
          <a:p>
            <a:pPr>
              <a:lnSpc>
                <a:spcPct val="90000"/>
              </a:lnSpc>
              <a:defRPr/>
            </a:pPr>
            <a:r>
              <a:rPr lang="en-US" altLang="en-US" sz="2400"/>
              <a:t>FIFO:</a:t>
            </a:r>
            <a:r>
              <a:rPr lang="sr-Latn-CS" altLang="en-US" sz="2400"/>
              <a:t> procesi mogu videti dogadjaje u različitom redosledu (sem onih koji potiču iz istog procesa)</a:t>
            </a:r>
            <a:endParaRPr lang="en-US" altLang="en-US" sz="2400"/>
          </a:p>
        </p:txBody>
      </p:sp>
      <p:sp>
        <p:nvSpPr>
          <p:cNvPr id="66577" name="Text Box 17"/>
          <p:cNvSpPr txBox="1">
            <a:spLocks noChangeArrowheads="1"/>
          </p:cNvSpPr>
          <p:nvPr/>
        </p:nvSpPr>
        <p:spPr bwMode="auto">
          <a:xfrm>
            <a:off x="457200" y="4575175"/>
            <a:ext cx="7772400" cy="1735138"/>
          </a:xfrm>
          <a:prstGeom prst="rect">
            <a:avLst/>
          </a:prstGeom>
          <a:noFill/>
          <a:ln w="9525">
            <a:noFill/>
            <a:miter lim="800000"/>
            <a:headEnd/>
            <a:tailEnd/>
          </a:ln>
        </p:spPr>
        <p:txBody>
          <a:bodyPr>
            <a:spAutoFit/>
          </a:bodyPr>
          <a:lstStyle/>
          <a:p>
            <a:pPr>
              <a:spcBef>
                <a:spcPct val="50000"/>
              </a:spcBef>
            </a:pPr>
            <a:r>
              <a:rPr lang="sr-Latn-CS" altLang="en-US" sz="2400">
                <a:latin typeface="Times New Roman" charset="0"/>
              </a:rPr>
              <a:t>Sekvencijalna: mogući ishodi</a:t>
            </a:r>
            <a:r>
              <a:rPr lang="en-US" altLang="en-US" sz="2400">
                <a:latin typeface="Times New Roman" charset="0"/>
              </a:rPr>
              <a:t>:  P1 </a:t>
            </a:r>
            <a:r>
              <a:rPr lang="sr-Latn-CS" altLang="en-US" sz="2400">
                <a:latin typeface="Times New Roman" charset="0"/>
              </a:rPr>
              <a:t>ili </a:t>
            </a:r>
            <a:r>
              <a:rPr lang="en-US" altLang="en-US" sz="2400">
                <a:latin typeface="Times New Roman" charset="0"/>
              </a:rPr>
              <a:t> P2 </a:t>
            </a:r>
            <a:r>
              <a:rPr lang="sr-Latn-CS" altLang="en-US" sz="2400">
                <a:latin typeface="Times New Roman" charset="0"/>
              </a:rPr>
              <a:t>ili ni jedna proces nije ubijen </a:t>
            </a:r>
            <a:endParaRPr lang="en-US" altLang="en-US" sz="2400">
              <a:latin typeface="Times New Roman" charset="0"/>
            </a:endParaRPr>
          </a:p>
          <a:p>
            <a:pPr>
              <a:spcBef>
                <a:spcPct val="50000"/>
              </a:spcBef>
            </a:pPr>
            <a:r>
              <a:rPr lang="en-US" altLang="en-US" sz="2400">
                <a:latin typeface="Times New Roman" charset="0"/>
              </a:rPr>
              <a:t>FIFO: 	</a:t>
            </a:r>
            <a:r>
              <a:rPr lang="sr-Latn-CS" altLang="en-US" sz="2400">
                <a:latin typeface="Times New Roman" charset="0"/>
              </a:rPr>
              <a:t>moguće je da oba procesa budu ubijena jer različiti procesi mogu videti operacije u različitom redosledu! </a:t>
            </a:r>
            <a:endParaRPr lang="en-US" altLang="en-US" sz="2400">
              <a:latin typeface="Times New Roman" charset="0"/>
            </a:endParaRPr>
          </a:p>
        </p:txBody>
      </p:sp>
      <p:sp>
        <p:nvSpPr>
          <p:cNvPr id="66578" name="Rectangle 18"/>
          <p:cNvSpPr>
            <a:spLocks noChangeArrowheads="1"/>
          </p:cNvSpPr>
          <p:nvPr/>
        </p:nvSpPr>
        <p:spPr bwMode="auto">
          <a:xfrm>
            <a:off x="1752600" y="4114800"/>
            <a:ext cx="5006975" cy="457200"/>
          </a:xfrm>
          <a:prstGeom prst="rect">
            <a:avLst/>
          </a:prstGeom>
          <a:noFill/>
          <a:ln w="9525">
            <a:noFill/>
            <a:miter lim="800000"/>
            <a:headEnd/>
            <a:tailEnd/>
          </a:ln>
        </p:spPr>
        <p:txBody>
          <a:bodyPr wrap="none">
            <a:spAutoFit/>
          </a:bodyPr>
          <a:lstStyle/>
          <a:p>
            <a:pPr>
              <a:spcBef>
                <a:spcPct val="50000"/>
              </a:spcBef>
            </a:pPr>
            <a:r>
              <a:rPr lang="sr-Latn-CS" altLang="en-US" sz="2400">
                <a:latin typeface="Times New Roman" charset="0"/>
              </a:rPr>
              <a:t>Pretpostavimo da je inicijalno</a:t>
            </a:r>
            <a:r>
              <a:rPr lang="en-US" altLang="en-US" sz="2400">
                <a:latin typeface="Times New Roman" charset="0"/>
              </a:rPr>
              <a:t> x = y = 0</a:t>
            </a:r>
          </a:p>
        </p:txBody>
      </p:sp>
      <p:sp>
        <p:nvSpPr>
          <p:cNvPr id="66579" name="Rectangle 19"/>
          <p:cNvSpPr>
            <a:spLocks noGrp="1" noChangeArrowheads="1"/>
          </p:cNvSpPr>
          <p:nvPr>
            <p:ph type="title"/>
          </p:nvPr>
        </p:nvSpPr>
        <p:spPr>
          <a:xfrm>
            <a:off x="0" y="76200"/>
            <a:ext cx="9144000" cy="641350"/>
          </a:xfrm>
        </p:spPr>
        <p:txBody>
          <a:bodyPr/>
          <a:lstStyle/>
          <a:p>
            <a:pPr>
              <a:defRPr/>
            </a:pPr>
            <a:r>
              <a:rPr lang="en-US" altLang="en-US" sz="3600"/>
              <a:t>Sekvencijalna naspram FIFO conzistencije </a:t>
            </a:r>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65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66578"/>
                                        </p:tgtEl>
                                        <p:attrNameLst>
                                          <p:attrName>style.visibility</p:attrName>
                                        </p:attrNameLst>
                                      </p:cBhvr>
                                      <p:to>
                                        <p:strVal val="visible"/>
                                      </p:to>
                                    </p:set>
                                    <p:animEffect transition="in" filter="wipe(up)">
                                      <p:cBhvr>
                                        <p:cTn id="11" dur="500"/>
                                        <p:tgtEl>
                                          <p:spTgt spid="6657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66577">
                                            <p:txEl>
                                              <p:pRg st="0" end="0"/>
                                            </p:txEl>
                                          </p:spTgt>
                                        </p:tgtEl>
                                        <p:attrNameLst>
                                          <p:attrName>style.visibility</p:attrName>
                                        </p:attrNameLst>
                                      </p:cBhvr>
                                      <p:to>
                                        <p:strVal val="visible"/>
                                      </p:to>
                                    </p:set>
                                    <p:animEffect transition="in" filter="checkerboard(across)">
                                      <p:cBhvr>
                                        <p:cTn id="16" dur="500"/>
                                        <p:tgtEl>
                                          <p:spTgt spid="66577">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66577">
                                            <p:txEl>
                                              <p:pRg st="1" end="1"/>
                                            </p:txEl>
                                          </p:spTgt>
                                        </p:tgtEl>
                                        <p:attrNameLst>
                                          <p:attrName>style.visibility</p:attrName>
                                        </p:attrNameLst>
                                      </p:cBhvr>
                                      <p:to>
                                        <p:strVal val="visible"/>
                                      </p:to>
                                    </p:set>
                                    <p:animEffect transition="in" filter="checkerboard(across)">
                                      <p:cBhvr>
                                        <p:cTn id="21" dur="500"/>
                                        <p:tgtEl>
                                          <p:spTgt spid="6657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7" grpId="0" build="p" autoUpdateAnimBg="0"/>
      <p:bldP spid="6657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a:defRPr/>
            </a:pPr>
            <a:r>
              <a:rPr lang="sr-Latn-CS" altLang="en-US"/>
              <a:t>Slaba konzistencija</a:t>
            </a:r>
            <a:endParaRPr lang="en-US" altLang="en-US"/>
          </a:p>
        </p:txBody>
      </p:sp>
      <p:sp>
        <p:nvSpPr>
          <p:cNvPr id="92163" name="Rectangle 3"/>
          <p:cNvSpPr>
            <a:spLocks noGrp="1" noChangeArrowheads="1"/>
          </p:cNvSpPr>
          <p:nvPr>
            <p:ph type="body" idx="1"/>
          </p:nvPr>
        </p:nvSpPr>
        <p:spPr/>
        <p:txBody>
          <a:bodyPr/>
          <a:lstStyle/>
          <a:p>
            <a:pPr>
              <a:lnSpc>
                <a:spcPct val="90000"/>
              </a:lnSpc>
              <a:defRPr/>
            </a:pPr>
            <a:r>
              <a:rPr lang="en-US" altLang="en-US" sz="2000" dirty="0" err="1"/>
              <a:t>Sekvencijalna</a:t>
            </a:r>
            <a:r>
              <a:rPr lang="en-US" altLang="en-US" sz="2000" dirty="0"/>
              <a:t> </a:t>
            </a:r>
            <a:r>
              <a:rPr lang="en-US" altLang="en-US" sz="2000" dirty="0" err="1"/>
              <a:t>konzistencija</a:t>
            </a:r>
            <a:r>
              <a:rPr lang="sr-Latn-CS" altLang="en-US" sz="2000" dirty="0"/>
              <a:t> je dosta restriktivna za mnoge aplikacije jer zahteva da sve write operacije jednog procesa budu vidljive svuda u sistemu.</a:t>
            </a:r>
          </a:p>
          <a:p>
            <a:pPr lvl="1">
              <a:lnSpc>
                <a:spcPct val="90000"/>
              </a:lnSpc>
              <a:defRPr/>
            </a:pPr>
            <a:r>
              <a:rPr lang="sr-Latn-CS" altLang="en-US" sz="1800" dirty="0"/>
              <a:t>Npr. dok se jedan proces nalazi u kritičnoj sekciji i modifikuje podatke u repliciranoj bazi podataka, sve write operacije tog procesa moraju da budu prosleđene svim kopijama, mada dok je proces u kritičnoj sekciji drugi proces ne može pristupiti deljivim podacima.</a:t>
            </a:r>
          </a:p>
          <a:p>
            <a:pPr lvl="1">
              <a:lnSpc>
                <a:spcPct val="90000"/>
              </a:lnSpc>
              <a:defRPr/>
            </a:pPr>
            <a:r>
              <a:rPr lang="sr-Latn-CS" altLang="en-US" sz="1800" dirty="0"/>
              <a:t>Bolje rešenje je dozvoliti procesu da okonča izvršenje kritične sekcije, a onda obezbediti da konačni rezultat bude prosleđen svima u sistemu.</a:t>
            </a:r>
          </a:p>
          <a:p>
            <a:pPr lvl="2">
              <a:lnSpc>
                <a:spcPct val="90000"/>
              </a:lnSpc>
              <a:defRPr/>
            </a:pPr>
            <a:r>
              <a:rPr lang="sr-Latn-CS" altLang="en-US" sz="1600" dirty="0"/>
              <a:t>Ovo se može postići korišćenjem eksplicitne sinhronizacije pomoću sinhronizacionoh promenljivih.</a:t>
            </a:r>
          </a:p>
          <a:p>
            <a:pPr lvl="2">
              <a:lnSpc>
                <a:spcPct val="90000"/>
              </a:lnSpc>
              <a:defRPr/>
            </a:pPr>
            <a:r>
              <a:rPr lang="sr-Latn-CS" altLang="en-US" sz="1600" dirty="0"/>
              <a:t>Na sinhronizacionoj promenljivoj, S, se može obavljati samo jedna operacija synchronize (S) , koja sinhronizuje sve lokalne kopije skladišta podataka.</a:t>
            </a:r>
          </a:p>
          <a:p>
            <a:pPr lvl="2">
              <a:lnSpc>
                <a:spcPct val="90000"/>
              </a:lnSpc>
              <a:defRPr/>
            </a:pPr>
            <a:r>
              <a:rPr lang="sr-Latn-CS" altLang="en-US" sz="1600" dirty="0"/>
              <a:t>Proces P obavlja operacije samo nad svojom lokalnom kopijom skladišta podataka i nema garancija kada će modifikacije biti vidljive drugim procesima.</a:t>
            </a:r>
          </a:p>
          <a:p>
            <a:pPr lvl="2">
              <a:lnSpc>
                <a:spcPct val="90000"/>
              </a:lnSpc>
              <a:defRPr/>
            </a:pPr>
            <a:r>
              <a:rPr lang="sr-Latn-CS" altLang="en-US" sz="1600" dirty="0"/>
              <a:t>Tek kada se skladište podataka sinhronizuje, svi lokalni upisi procesa P se prosleđuju ostalim kopijama skladišta podataka, a </a:t>
            </a:r>
            <a:r>
              <a:rPr lang="pl-PL" altLang="en-US" sz="1600" dirty="0"/>
              <a:t>upisi drugih procesa donose u P-ovu kopiju.</a:t>
            </a:r>
          </a:p>
          <a:p>
            <a:pPr lvl="1">
              <a:lnSpc>
                <a:spcPct val="90000"/>
              </a:lnSpc>
              <a:defRPr/>
            </a:pPr>
            <a:r>
              <a:rPr lang="sr-Latn-CS" altLang="en-US" sz="1800" dirty="0"/>
              <a:t>Model slabe konzistencije ostvaruje  konzistenciju nad grupom operacija, a ne nad individualnim read i write operacijama. </a:t>
            </a:r>
            <a:endParaRPr lang="en-US" altLang="en-US" sz="1800" dirty="0"/>
          </a:p>
        </p:txBody>
      </p:sp>
    </p:spTree>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a:defRPr/>
            </a:pPr>
            <a:r>
              <a:rPr lang="sr-Latn-CS" altLang="en-US"/>
              <a:t>Slaba konzistencija</a:t>
            </a:r>
            <a:endParaRPr lang="en-US" altLang="en-US"/>
          </a:p>
        </p:txBody>
      </p:sp>
      <p:sp>
        <p:nvSpPr>
          <p:cNvPr id="26627" name="Text Box 3"/>
          <p:cNvSpPr txBox="1">
            <a:spLocks noChangeArrowheads="1"/>
          </p:cNvSpPr>
          <p:nvPr/>
        </p:nvSpPr>
        <p:spPr bwMode="auto">
          <a:xfrm>
            <a:off x="915988" y="1517650"/>
            <a:ext cx="7608887" cy="2976563"/>
          </a:xfrm>
          <a:prstGeom prst="rect">
            <a:avLst/>
          </a:prstGeom>
          <a:noFill/>
          <a:ln w="9525">
            <a:noFill/>
            <a:miter lim="800000"/>
            <a:headEnd/>
            <a:tailEnd/>
          </a:ln>
        </p:spPr>
        <p:txBody>
          <a:bodyPr>
            <a:spAutoFit/>
          </a:bodyPr>
          <a:lstStyle/>
          <a:p>
            <a:pPr eaLnBrk="1" hangingPunct="1">
              <a:spcBef>
                <a:spcPct val="50000"/>
              </a:spcBef>
            </a:pPr>
            <a:r>
              <a:rPr lang="en-US" altLang="en-US"/>
              <a:t>int a, b, c, d, e, x, y;			/* variables */</a:t>
            </a:r>
            <a:br>
              <a:rPr lang="en-US" altLang="en-US"/>
            </a:br>
            <a:r>
              <a:rPr lang="en-US" altLang="en-US"/>
              <a:t>int *p, *q;				/* pointers */</a:t>
            </a:r>
            <a:br>
              <a:rPr lang="en-US" altLang="en-US"/>
            </a:br>
            <a:r>
              <a:rPr lang="en-US" altLang="en-US"/>
              <a:t>int f( int *p, int *q);				/* function prototype */</a:t>
            </a:r>
          </a:p>
          <a:p>
            <a:pPr eaLnBrk="1" hangingPunct="1">
              <a:spcBef>
                <a:spcPct val="50000"/>
              </a:spcBef>
            </a:pPr>
            <a:r>
              <a:rPr lang="en-US" altLang="en-US"/>
              <a:t>a = x * x;					/* a stored in register */</a:t>
            </a:r>
            <a:br>
              <a:rPr lang="en-US" altLang="en-US"/>
            </a:br>
            <a:r>
              <a:rPr lang="en-US" altLang="en-US"/>
              <a:t>b = y * y;					/* b as well */</a:t>
            </a:r>
            <a:br>
              <a:rPr lang="en-US" altLang="en-US"/>
            </a:br>
            <a:r>
              <a:rPr lang="en-US" altLang="en-US"/>
              <a:t>c = a*a*a + b*b + a * b;			/* used later */</a:t>
            </a:r>
            <a:br>
              <a:rPr lang="en-US" altLang="en-US"/>
            </a:br>
            <a:r>
              <a:rPr lang="en-US" altLang="en-US"/>
              <a:t>d = a * a * c;				/* used later */</a:t>
            </a:r>
            <a:br>
              <a:rPr lang="en-US" altLang="en-US"/>
            </a:br>
            <a:r>
              <a:rPr lang="en-US" altLang="en-US"/>
              <a:t>p = &amp;a;					/* p gets address of a */</a:t>
            </a:r>
            <a:br>
              <a:rPr lang="en-US" altLang="en-US"/>
            </a:br>
            <a:r>
              <a:rPr lang="en-US" altLang="en-US"/>
              <a:t>q = &amp;b					/* q gets address of b */</a:t>
            </a:r>
            <a:br>
              <a:rPr lang="en-US" altLang="en-US"/>
            </a:br>
            <a:r>
              <a:rPr lang="en-US" altLang="en-US"/>
              <a:t>e = f(p, q)				/* function call */</a:t>
            </a:r>
          </a:p>
        </p:txBody>
      </p:sp>
      <p:sp>
        <p:nvSpPr>
          <p:cNvPr id="93188" name="Text Box 4"/>
          <p:cNvSpPr txBox="1">
            <a:spLocks noChangeArrowheads="1"/>
          </p:cNvSpPr>
          <p:nvPr/>
        </p:nvSpPr>
        <p:spPr bwMode="auto">
          <a:xfrm>
            <a:off x="288925" y="5019675"/>
            <a:ext cx="7102475" cy="641350"/>
          </a:xfrm>
          <a:prstGeom prst="rect">
            <a:avLst/>
          </a:prstGeom>
          <a:noFill/>
          <a:ln>
            <a:noFill/>
          </a:ln>
          <a:effectLst/>
        </p:spPr>
        <p:txBody>
          <a:bodyPr anchor="b">
            <a:spAutoFit/>
          </a:bodyPr>
          <a:lstStyle/>
          <a:p>
            <a:pPr>
              <a:defRPr/>
            </a:pPr>
            <a:r>
              <a:rPr lang="sr-Latn-CS" altLang="en-US">
                <a:effectLst>
                  <a:outerShdw blurRad="38100" dist="38100" dir="2700000" algn="tl">
                    <a:srgbClr val="C0C0C0"/>
                  </a:outerShdw>
                </a:effectLst>
                <a:latin typeface="Arial" panose="020B0604020202020204" pitchFamily="34" charset="0"/>
              </a:rPr>
              <a:t>I kod </a:t>
            </a:r>
            <a:r>
              <a:rPr lang="en-US" altLang="en-US">
                <a:effectLst>
                  <a:outerShdw blurRad="38100" dist="38100" dir="2700000" algn="tl">
                    <a:srgbClr val="C0C0C0"/>
                  </a:outerShdw>
                </a:effectLst>
                <a:latin typeface="Arial" panose="020B0604020202020204" pitchFamily="34" charset="0"/>
              </a:rPr>
              <a:t>centralizovanih (jednoprocesorskih)</a:t>
            </a:r>
            <a:r>
              <a:rPr lang="sr-Latn-CS" altLang="en-US">
                <a:effectLst>
                  <a:outerShdw blurRad="38100" dist="38100" dir="2700000" algn="tl">
                    <a:srgbClr val="C0C0C0"/>
                  </a:outerShdw>
                </a:effectLst>
                <a:latin typeface="Arial" panose="020B0604020202020204" pitchFamily="34" charset="0"/>
              </a:rPr>
              <a:t> sistema postoji privremena nekon</a:t>
            </a:r>
            <a:r>
              <a:rPr lang="en-US" altLang="en-US">
                <a:effectLst>
                  <a:outerShdw blurRad="38100" dist="38100" dir="2700000" algn="tl">
                    <a:srgbClr val="C0C0C0"/>
                  </a:outerShdw>
                </a:effectLst>
                <a:latin typeface="Arial" panose="020B0604020202020204" pitchFamily="34" charset="0"/>
              </a:rPr>
              <a:t>z</a:t>
            </a:r>
            <a:r>
              <a:rPr lang="sr-Latn-CS" altLang="en-US">
                <a:effectLst>
                  <a:outerShdw blurRad="38100" dist="38100" dir="2700000" algn="tl">
                    <a:srgbClr val="C0C0C0"/>
                  </a:outerShdw>
                </a:effectLst>
                <a:latin typeface="Arial" panose="020B0604020202020204" pitchFamily="34" charset="0"/>
              </a:rPr>
              <a:t>istentnos</a:t>
            </a:r>
            <a:r>
              <a:rPr lang="en-US" altLang="en-US">
                <a:effectLst>
                  <a:outerShdw blurRad="38100" dist="38100" dir="2700000" algn="tl">
                    <a:srgbClr val="C0C0C0"/>
                  </a:outerShdw>
                </a:effectLst>
                <a:latin typeface="Arial" panose="020B0604020202020204" pitchFamily="34" charset="0"/>
              </a:rPr>
              <a:t>t</a:t>
            </a:r>
            <a:r>
              <a:rPr lang="sr-Latn-CS" altLang="en-US">
                <a:effectLst>
                  <a:outerShdw blurRad="38100" dist="38100" dir="2700000" algn="tl">
                    <a:srgbClr val="C0C0C0"/>
                  </a:outerShdw>
                </a:effectLst>
                <a:latin typeface="Arial" panose="020B0604020202020204" pitchFamily="34" charset="0"/>
              </a:rPr>
              <a:t> memorije.</a:t>
            </a:r>
            <a:endParaRPr lang="en-US" altLang="en-US">
              <a:effectLst>
                <a:outerShdw blurRad="38100" dist="38100" dir="2700000" algn="tl">
                  <a:srgbClr val="C0C0C0"/>
                </a:outerShdw>
              </a:effectLst>
              <a:latin typeface="Arial" panose="020B0604020202020204" pitchFamily="34" charset="0"/>
            </a:endParaRPr>
          </a:p>
        </p:txBody>
      </p:sp>
    </p:spTree>
  </p:cSld>
  <p:clrMapOvr>
    <a:masterClrMapping/>
  </p:clrMapOvr>
  <p:transition>
    <p:pull dir="d"/>
  </p:transition>
</p:sld>
</file>

<file path=ppt/theme/theme1.xml><?xml version="1.0" encoding="utf-8"?>
<a:theme xmlns:a="http://schemas.openxmlformats.org/drawingml/2006/main" name="MIMD">
  <a:themeElements>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MIM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MIMD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MIMD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MIM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MD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MIMD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MIMD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MIMD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MIMD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MIMD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MIMD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MIMD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MIMD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ananje-dinam">
  <a:themeElements>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grananje-dinam">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grananje-dinam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grananje-dinam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grananje-dinam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rananje-dinam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grananje-dinam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grananje-dinam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grananje-dinam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grananje-dinam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grananje-dinam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grananje-dinam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grananje-dinam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grananje-dinam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Distribuirani sistemi-sinhronizacija[2]</Template>
  <TotalTime>70</TotalTime>
  <Words>2902</Words>
  <Application>Microsoft Office PowerPoint</Application>
  <PresentationFormat>On-screen Show (4:3)</PresentationFormat>
  <Paragraphs>330</Paragraphs>
  <Slides>24</Slides>
  <Notes>7</Notes>
  <HiddenSlides>0</HiddenSlides>
  <MMClips>0</MMClip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MIMD</vt:lpstr>
      <vt:lpstr>grananje-dinam</vt:lpstr>
      <vt:lpstr>Distribuirani sistemi</vt:lpstr>
      <vt:lpstr>Razlozi replikacije</vt:lpstr>
      <vt:lpstr>Problemi uzrokovani replikacijom</vt:lpstr>
      <vt:lpstr>Slide 4</vt:lpstr>
      <vt:lpstr>Modeli konzistencije</vt:lpstr>
      <vt:lpstr>Modeli konzistencije (nast.)</vt:lpstr>
      <vt:lpstr>Modeli konzistencije</vt:lpstr>
      <vt:lpstr>Striktna konzistencija</vt:lpstr>
      <vt:lpstr>Slide 9</vt:lpstr>
      <vt:lpstr>Striktna konzistencija (nast.)</vt:lpstr>
      <vt:lpstr>Striktna konzistencija (nast.)</vt:lpstr>
      <vt:lpstr>Sekvencijalna konzistencija</vt:lpstr>
      <vt:lpstr>Sekvencijalna konzistencija: Primer</vt:lpstr>
      <vt:lpstr>Primer (nast.)</vt:lpstr>
      <vt:lpstr>Primer (nast.)</vt:lpstr>
      <vt:lpstr>Primer2</vt:lpstr>
      <vt:lpstr>uslovna (kauzalna) konzistencija</vt:lpstr>
      <vt:lpstr>uslovna konzistencija (nast.)</vt:lpstr>
      <vt:lpstr>FIFO konzistencija</vt:lpstr>
      <vt:lpstr>FIFO konzistencija</vt:lpstr>
      <vt:lpstr>FIFO konzistencija</vt:lpstr>
      <vt:lpstr>Sekvencijalna naspram FIFO conzistencije </vt:lpstr>
      <vt:lpstr>Slaba konzistencija</vt:lpstr>
      <vt:lpstr>Slaba konzistencija</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Distribuirani sistemi</dc:title>
  <dc:creator>Ema</dc:creator>
  <cp:lastModifiedBy>Ema</cp:lastModifiedBy>
  <cp:revision>14</cp:revision>
  <dcterms:created xsi:type="dcterms:W3CDTF">2020-04-04T10:27:55Z</dcterms:created>
  <dcterms:modified xsi:type="dcterms:W3CDTF">2020-04-06T16:19:11Z</dcterms:modified>
</cp:coreProperties>
</file>